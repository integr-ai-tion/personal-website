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Lexen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0C0D13-4163-4179-A893-E953D92FC9AF}">
  <a:tblStyle styleId="{9B0C0D13-4163-4179-A893-E953D92FC9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128A648-2720-41D5-81E8-A631E90C5FA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exend-bold.fntdata"/><Relationship Id="rId27" Type="http://schemas.openxmlformats.org/officeDocument/2006/relationships/font" Target="fonts/Lexen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8067c3b65_5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8067c3b65_5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7c54331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7c54331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7cd80c0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7cd80c0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7cd80c08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7cd80c08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7cd80c08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77cd80c08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77cd80c08f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77cd80c08f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77cd80c08f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77cd80c08f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77cd80c08f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77cd80c08f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77cd80c08f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77cd80c08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77cd80c08f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77cd80c08f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77cd80c08f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77cd80c08f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78067c3b65_5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78067c3b65_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78067c3b65_5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78067c3b65_5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78067c3b65_5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78067c3b65_5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6acdef3d451be2d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6acdef3d451be2d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7cd80c08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77cd80c08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77cd80c08f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77cd80c08f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78067c3b65_4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78067c3b65_4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78067c3b65_4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78067c3b65_4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Relationship Id="rId4" Type="http://schemas.openxmlformats.org/officeDocument/2006/relationships/hyperlink" Target="http://drive.google.com/file/d/1jR3GDfnZQaVL3k73pltTkkkYTjUF9MFg/view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10" Type="http://schemas.openxmlformats.org/officeDocument/2006/relationships/image" Target="../media/image5.png"/><Relationship Id="rId9" Type="http://schemas.openxmlformats.org/officeDocument/2006/relationships/image" Target="../media/image21.png"/><Relationship Id="rId5" Type="http://schemas.openxmlformats.org/officeDocument/2006/relationships/image" Target="../media/image22.jpg"/><Relationship Id="rId6" Type="http://schemas.openxmlformats.org/officeDocument/2006/relationships/image" Target="../media/image13.jpg"/><Relationship Id="rId7" Type="http://schemas.openxmlformats.org/officeDocument/2006/relationships/image" Target="../media/image3.jpg"/><Relationship Id="rId8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mekari.com/blog/point-of-sales-pos/" TargetMode="External"/><Relationship Id="rId6" Type="http://schemas.openxmlformats.org/officeDocument/2006/relationships/hyperlink" Target="https://www.businessnewsdaily.com/4245-swot-analysis.html" TargetMode="External"/><Relationship Id="rId7" Type="http://schemas.openxmlformats.org/officeDocument/2006/relationships/hyperlink" Target="https://www.ibm.com/think/topics/business-analytic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23.png"/><Relationship Id="rId8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28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F17_bizzshannel[NEW]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4572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292825" y="1044938"/>
            <a:ext cx="8470800" cy="9060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150" y="-30075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BUSINESS ANALYTICS : What is it?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0" y="4778700"/>
            <a:ext cx="9144000" cy="36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140525" y="4856200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" name="Google Shape;64;p14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65" name="Google Shape;65;p14" title="Logo Putih COMPFES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14" title="Logo CF1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" name="Google Shape;67;p14"/>
          <p:cNvSpPr/>
          <p:nvPr/>
        </p:nvSpPr>
        <p:spPr>
          <a:xfrm>
            <a:off x="1929886" y="48562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3719246" y="48562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5508607" y="48562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7297967" y="485175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-4675" y="47787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784675" y="47787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3574050" y="47787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5363400" y="47787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7152775" y="47787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3518150" y="754538"/>
            <a:ext cx="2084700" cy="372300"/>
          </a:xfrm>
          <a:prstGeom prst="roundRect">
            <a:avLst>
              <a:gd fmla="val 16667" name="adj"/>
            </a:avLst>
          </a:prstGeom>
          <a:solidFill>
            <a:srgbClr val="B1C2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3623450" y="717488"/>
            <a:ext cx="187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Deskripsi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218000" y="1082288"/>
            <a:ext cx="872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Business Analytics</a:t>
            </a:r>
            <a:r>
              <a:rPr b="1" lang="en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merupakan sebuah sistem dimana metode statistik dan teknologi digunakan untuk mengolah data bisnis menjadi prediksi dan menghasilkan strategi yang lebih optimal (</a:t>
            </a:r>
            <a:r>
              <a:rPr b="1" i="1" lang="en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What Is Business Analytics?</a:t>
            </a:r>
            <a:r>
              <a:rPr b="1" lang="en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, n.d.).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3485875" y="2161463"/>
            <a:ext cx="2084700" cy="372300"/>
          </a:xfrm>
          <a:prstGeom prst="roundRect">
            <a:avLst>
              <a:gd fmla="val 16667" name="adj"/>
            </a:avLst>
          </a:prstGeom>
          <a:solidFill>
            <a:srgbClr val="B1C2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/>
        </p:nvSpPr>
        <p:spPr>
          <a:xfrm>
            <a:off x="3591175" y="2124413"/>
            <a:ext cx="187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Metodologi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4"/>
          <p:cNvCxnSpPr>
            <a:stCxn id="80" idx="2"/>
          </p:cNvCxnSpPr>
          <p:nvPr/>
        </p:nvCxnSpPr>
        <p:spPr>
          <a:xfrm>
            <a:off x="4528375" y="2570813"/>
            <a:ext cx="9300" cy="33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4"/>
          <p:cNvCxnSpPr/>
          <p:nvPr/>
        </p:nvCxnSpPr>
        <p:spPr>
          <a:xfrm rot="10800000">
            <a:off x="1140875" y="2903463"/>
            <a:ext cx="342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4"/>
          <p:cNvCxnSpPr/>
          <p:nvPr/>
        </p:nvCxnSpPr>
        <p:spPr>
          <a:xfrm rot="10800000">
            <a:off x="4567475" y="2904863"/>
            <a:ext cx="342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4"/>
          <p:cNvCxnSpPr/>
          <p:nvPr/>
        </p:nvCxnSpPr>
        <p:spPr>
          <a:xfrm>
            <a:off x="1140875" y="2904863"/>
            <a:ext cx="5700" cy="3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4"/>
          <p:cNvCxnSpPr/>
          <p:nvPr/>
        </p:nvCxnSpPr>
        <p:spPr>
          <a:xfrm>
            <a:off x="5901150" y="2901100"/>
            <a:ext cx="5100" cy="3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4"/>
          <p:cNvCxnSpPr/>
          <p:nvPr/>
        </p:nvCxnSpPr>
        <p:spPr>
          <a:xfrm>
            <a:off x="3334400" y="2901550"/>
            <a:ext cx="5100" cy="3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4"/>
          <p:cNvCxnSpPr/>
          <p:nvPr/>
        </p:nvCxnSpPr>
        <p:spPr>
          <a:xfrm>
            <a:off x="7994075" y="2904850"/>
            <a:ext cx="8700" cy="30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4"/>
          <p:cNvSpPr/>
          <p:nvPr/>
        </p:nvSpPr>
        <p:spPr>
          <a:xfrm>
            <a:off x="259750" y="3190838"/>
            <a:ext cx="1749300" cy="1138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2462300" y="3190838"/>
            <a:ext cx="1749300" cy="1138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5029050" y="3190838"/>
            <a:ext cx="1749300" cy="1138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7123775" y="3190838"/>
            <a:ext cx="1749300" cy="1138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197200" y="3190838"/>
            <a:ext cx="187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Descriptive analysis</a:t>
            </a:r>
            <a:endParaRPr b="1" sz="1200" u="sng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399750" y="3190838"/>
            <a:ext cx="187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Diagnostic </a:t>
            </a:r>
            <a:r>
              <a:rPr b="1" lang="en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analysis</a:t>
            </a:r>
            <a:endParaRPr b="1" sz="1200" u="sng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966500" y="3190838"/>
            <a:ext cx="187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Predictive</a:t>
            </a:r>
            <a:r>
              <a:rPr b="1" lang="en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analysis</a:t>
            </a:r>
            <a:endParaRPr b="1" sz="1200" u="sng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061225" y="3190838"/>
            <a:ext cx="187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Prescriptive </a:t>
            </a:r>
            <a:r>
              <a:rPr b="1" lang="en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analysis</a:t>
            </a:r>
            <a:endParaRPr b="1" sz="1200" u="sng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06525" y="3560138"/>
            <a:ext cx="187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Mendeskripsikan data yang ada</a:t>
            </a:r>
            <a:endParaRPr sz="11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399750" y="3567400"/>
            <a:ext cx="187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Menjelaskan alasan dibalik suatu kejadian</a:t>
            </a:r>
            <a:endParaRPr sz="11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029050" y="3441625"/>
            <a:ext cx="1749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Mengidentifikasi pola data dan memprediksi apa yang akan terjadi nanti berdasarkan data itu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061225" y="3463900"/>
            <a:ext cx="1874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Membantu memprediksi dan mengambil keputusan masa depan berdasarkan data yang ada.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150" y="-30075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CASE OVERVIEW : EXECUTIVE SUMMARY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0" y="4778700"/>
            <a:ext cx="9144000" cy="36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140525" y="4856200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15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109" name="Google Shape;109;p15" title="Logo Putih COMPFES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5" title="Logo CF1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" name="Google Shape;111;p15"/>
          <p:cNvSpPr/>
          <p:nvPr/>
        </p:nvSpPr>
        <p:spPr>
          <a:xfrm>
            <a:off x="240750" y="515213"/>
            <a:ext cx="8662800" cy="4123800"/>
          </a:xfrm>
          <a:prstGeom prst="roundRect">
            <a:avLst>
              <a:gd fmla="val 16667" name="adj"/>
            </a:avLst>
          </a:prstGeom>
          <a:solidFill>
            <a:srgbClr val="B1C29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6875" y="916138"/>
            <a:ext cx="127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Situation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76875" y="2016125"/>
            <a:ext cx="203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Complication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76875" y="2996538"/>
            <a:ext cx="203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Question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76875" y="3803775"/>
            <a:ext cx="203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2392475" y="819988"/>
            <a:ext cx="6024000" cy="669300"/>
          </a:xfrm>
          <a:prstGeom prst="rect">
            <a:avLst/>
          </a:prstGeom>
          <a:solidFill>
            <a:srgbClr val="FADA7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2392475" y="1611738"/>
            <a:ext cx="6024000" cy="2685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2423975" y="1568988"/>
            <a:ext cx="596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Kurangnya pemahaman terhadap strategi bisnis dan regulasi yang efektif</a:t>
            </a:r>
            <a:endParaRPr b="1"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2473575" y="785188"/>
            <a:ext cx="57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95442"/>
                </a:solidFill>
                <a:latin typeface="Lexend"/>
                <a:ea typeface="Lexend"/>
                <a:cs typeface="Lexend"/>
                <a:sym typeface="Lexend"/>
              </a:rPr>
              <a:t>Mas Fes sedang mencari strategi baru untuk mengelola kafe miliknya, KopiCompfest, agar lebih efektif dan efisien di tengah persaingan yang ketat serta tantangan dalam pengelolaan keuangan.</a:t>
            </a:r>
            <a:endParaRPr sz="1200">
              <a:solidFill>
                <a:srgbClr val="69544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2392475" y="1950448"/>
            <a:ext cx="1445100" cy="975900"/>
          </a:xfrm>
          <a:prstGeom prst="rect">
            <a:avLst/>
          </a:prstGeom>
          <a:solidFill>
            <a:srgbClr val="FCE7C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3918783" y="1950448"/>
            <a:ext cx="1445100" cy="975900"/>
          </a:xfrm>
          <a:prstGeom prst="rect">
            <a:avLst/>
          </a:prstGeom>
          <a:solidFill>
            <a:srgbClr val="FCE7C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445091" y="1950448"/>
            <a:ext cx="1445100" cy="975900"/>
          </a:xfrm>
          <a:prstGeom prst="rect">
            <a:avLst/>
          </a:prstGeom>
          <a:solidFill>
            <a:srgbClr val="FCE7C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2420069" y="2113413"/>
            <a:ext cx="1389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95442"/>
                </a:solidFill>
                <a:latin typeface="Lexend"/>
                <a:ea typeface="Lexend"/>
                <a:cs typeface="Lexend"/>
                <a:sym typeface="Lexend"/>
              </a:rPr>
              <a:t>Pengelolaan Uang Tidak Terstruktur</a:t>
            </a:r>
            <a:endParaRPr b="1" sz="1100">
              <a:solidFill>
                <a:srgbClr val="69544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3877963" y="2113413"/>
            <a:ext cx="1526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95442"/>
                </a:solidFill>
                <a:latin typeface="Lexend"/>
                <a:ea typeface="Lexend"/>
                <a:cs typeface="Lexend"/>
                <a:sym typeface="Lexend"/>
              </a:rPr>
              <a:t>Ketidaktepatan Strategi Pertumbuhan</a:t>
            </a:r>
            <a:endParaRPr b="1" sz="1100">
              <a:solidFill>
                <a:srgbClr val="69544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5472372" y="2176788"/>
            <a:ext cx="138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95442"/>
                </a:solidFill>
                <a:latin typeface="Lexend"/>
                <a:ea typeface="Lexend"/>
                <a:cs typeface="Lexend"/>
                <a:sym typeface="Lexend"/>
              </a:rPr>
              <a:t>Ketidakefisienan Operasional</a:t>
            </a:r>
            <a:endParaRPr b="1" sz="1100">
              <a:solidFill>
                <a:srgbClr val="69544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971394" y="1950448"/>
            <a:ext cx="1445100" cy="975900"/>
          </a:xfrm>
          <a:prstGeom prst="rect">
            <a:avLst/>
          </a:prstGeom>
          <a:solidFill>
            <a:srgbClr val="FCE7C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998675" y="2176788"/>
            <a:ext cx="138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95442"/>
                </a:solidFill>
                <a:latin typeface="Lexend"/>
                <a:ea typeface="Lexend"/>
                <a:cs typeface="Lexend"/>
                <a:sym typeface="Lexend"/>
              </a:rPr>
              <a:t>Persaingan Pasar</a:t>
            </a:r>
            <a:endParaRPr b="1" sz="1100">
              <a:solidFill>
                <a:srgbClr val="69544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2392475" y="3110687"/>
            <a:ext cx="6024000" cy="446400"/>
          </a:xfrm>
          <a:prstGeom prst="rect">
            <a:avLst/>
          </a:prstGeom>
          <a:solidFill>
            <a:srgbClr val="FADA7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2423975" y="3068450"/>
            <a:ext cx="596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95442"/>
                </a:solidFill>
                <a:latin typeface="Lexend"/>
                <a:ea typeface="Lexend"/>
                <a:cs typeface="Lexend"/>
                <a:sym typeface="Lexend"/>
              </a:rPr>
              <a:t>Bagaimana Mas Fes dapat meningkatkan efisiensi operasional dan strategi bisnisnya di tengah keterbatasan keuangan dan persaingan pasar?</a:t>
            </a:r>
            <a:endParaRPr b="1" sz="1100">
              <a:solidFill>
                <a:srgbClr val="69544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1929886" y="48562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3719246" y="48562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508607" y="48562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7297967" y="485175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3946207" y="2432500"/>
            <a:ext cx="138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69544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-4675" y="47787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1784675" y="47787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3574050" y="47787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5363400" y="47787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7152775" y="47787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2392475" y="3667777"/>
            <a:ext cx="6024000" cy="847500"/>
          </a:xfrm>
          <a:prstGeom prst="rect">
            <a:avLst/>
          </a:prstGeom>
          <a:solidFill>
            <a:srgbClr val="F0A04B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2614132" y="3730774"/>
            <a:ext cx="550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Aplikasi [‘KoFest’serbaguna] yang berperan untuk memperbaiki regulasi operasional dan keuangan serta meningkatkan pertumbuhan bisnis KopiCompfest.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/>
          <p:nvPr/>
        </p:nvSpPr>
        <p:spPr>
          <a:xfrm>
            <a:off x="150" y="-30075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16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150" name="Google Shape;150;p16" title="Logo Putih COMPFES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16" title="Logo CF1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" name="Google Shape;152;p16"/>
          <p:cNvSpPr/>
          <p:nvPr/>
        </p:nvSpPr>
        <p:spPr>
          <a:xfrm>
            <a:off x="300775" y="508163"/>
            <a:ext cx="3434100" cy="4161000"/>
          </a:xfrm>
          <a:prstGeom prst="roundRect">
            <a:avLst>
              <a:gd fmla="val 16667" name="adj"/>
            </a:avLst>
          </a:prstGeom>
          <a:solidFill>
            <a:srgbClr val="B1C29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346975" y="670575"/>
            <a:ext cx="334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BIG PICTURE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346975" y="1302575"/>
            <a:ext cx="33417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AutoNum type="arabicPeriod"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KopiCompfest pernah menjadi kafe paling populer di kota.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AutoNum type="arabicPeriod"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Naik-turunnya harga akibat persaingan membuat KopiCompfest kehilangan kepercayaan pelanggan.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AutoNum type="arabicPeriod"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Pengelolaan keuangan kafe yang tidak jelas karena rekening bisnis dan pribadi mas Fes masih bercampur.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AutoNum type="arabicPeriod"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Pencatatan manual dan keterlambatan pembayaran mencerminkan kurangnya sistem manajemen yang efisien.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5" name="Google Shape;155;p16"/>
          <p:cNvGrpSpPr/>
          <p:nvPr/>
        </p:nvGrpSpPr>
        <p:grpSpPr>
          <a:xfrm>
            <a:off x="3870425" y="508175"/>
            <a:ext cx="3856500" cy="2043900"/>
            <a:chOff x="3905250" y="838100"/>
            <a:chExt cx="3856500" cy="2043900"/>
          </a:xfrm>
        </p:grpSpPr>
        <p:sp>
          <p:nvSpPr>
            <p:cNvPr id="156" name="Google Shape;156;p16"/>
            <p:cNvSpPr/>
            <p:nvPr/>
          </p:nvSpPr>
          <p:spPr>
            <a:xfrm>
              <a:off x="3905250" y="838100"/>
              <a:ext cx="3856500" cy="2043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7" name="Google Shape;157;p16" title="Points score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80800" y="838100"/>
              <a:ext cx="3305376" cy="2043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8" name="Google Shape;158;p16"/>
          <p:cNvSpPr txBox="1"/>
          <p:nvPr/>
        </p:nvSpPr>
        <p:spPr>
          <a:xfrm>
            <a:off x="7806450" y="762725"/>
            <a:ext cx="1263000" cy="15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highlight>
                  <a:srgbClr val="434343"/>
                </a:highlight>
                <a:latin typeface="Lexend"/>
                <a:ea typeface="Lexend"/>
                <a:cs typeface="Lexend"/>
                <a:sym typeface="Lexend"/>
              </a:rPr>
              <a:t>Di bulan Juli 2025 lalu, 33% dari pemasukan kafe telah dialokasikan ke pengeluaran non-variabel (non-operasional/pribadi).</a:t>
            </a:r>
            <a:endParaRPr sz="1000">
              <a:solidFill>
                <a:schemeClr val="lt1"/>
              </a:solidFill>
              <a:highlight>
                <a:srgbClr val="434343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" name="Google Shape;159;p16"/>
          <p:cNvGrpSpPr/>
          <p:nvPr/>
        </p:nvGrpSpPr>
        <p:grpSpPr>
          <a:xfrm>
            <a:off x="6058050" y="2805125"/>
            <a:ext cx="2845500" cy="1784400"/>
            <a:chOff x="4647100" y="2684725"/>
            <a:chExt cx="2845500" cy="1784400"/>
          </a:xfrm>
        </p:grpSpPr>
        <p:sp>
          <p:nvSpPr>
            <p:cNvPr id="160" name="Google Shape;160;p16"/>
            <p:cNvSpPr/>
            <p:nvPr/>
          </p:nvSpPr>
          <p:spPr>
            <a:xfrm>
              <a:off x="4647100" y="2684725"/>
              <a:ext cx="2845500" cy="1784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1" name="Google Shape;161;p16" title="Chart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730925" y="2749025"/>
              <a:ext cx="2677842" cy="16557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p16"/>
          <p:cNvSpPr txBox="1"/>
          <p:nvPr/>
        </p:nvSpPr>
        <p:spPr>
          <a:xfrm>
            <a:off x="3940650" y="2805125"/>
            <a:ext cx="1832700" cy="17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highlight>
                  <a:srgbClr val="434343"/>
                </a:highlight>
                <a:latin typeface="Lexend"/>
                <a:ea typeface="Lexend"/>
                <a:cs typeface="Lexend"/>
                <a:sym typeface="Lexend"/>
              </a:rPr>
              <a:t>Berikut grafik batang yang menunjukkan bagaimana tren penjualan berbagai produk berubah dari 1 hingga ke 3, dengan sebagian menurun, beberapa stabil, dan beberapa mengalami penurunan drastis.</a:t>
            </a:r>
            <a:endParaRPr sz="1000">
              <a:solidFill>
                <a:schemeClr val="lt1"/>
              </a:solidFill>
              <a:highlight>
                <a:srgbClr val="434343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179577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358515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537450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716387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/>
          <p:nvPr/>
        </p:nvSpPr>
        <p:spPr>
          <a:xfrm>
            <a:off x="150" y="-30075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SITUATION ANALYSIS : SWOT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" name="Google Shape;180;p17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181" name="Google Shape;181;p17" title="Logo Putih COMPFES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7" title="Logo CF1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83" name="Google Shape;183;p17"/>
          <p:cNvGraphicFramePr/>
          <p:nvPr/>
        </p:nvGraphicFramePr>
        <p:xfrm>
          <a:off x="952500" y="80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{9B0C0D13-4163-4179-A893-E953D92FC9AF}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Strengths</a:t>
                      </a:r>
                      <a:endParaRPr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AF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Weaknesses</a:t>
                      </a:r>
                      <a:endParaRPr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AFA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exe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Menu minuman yang berbeda dari kompetitor-kompetitor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nya 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exe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Kesetiaan pelanggan karena bisnis yang sudah berdiri 2 tahun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exe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Lokasi yang strategis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exe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Kafe selalu ramai di jam kerja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exe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Tidak memiliki strategi bisnis yang bagus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exe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Pengelolaan uang yang tidak baik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exe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Sistem kafe yang masih serba manual seperti buku catatan fisik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exe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Branding yang masih belum cukup efektif untuk menjangkau banyak audiens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Opportunities</a:t>
                      </a:r>
                      <a:endParaRPr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AF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Threats</a:t>
                      </a:r>
                      <a:endParaRPr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AFA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exe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Aplikasi berbasis AI (</a:t>
                      </a:r>
                      <a:r>
                        <a:rPr i="1"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Artificial Intelligence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 untuk membantu pengelolaan keuangan 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exe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Mengadakan promo tanpa membuat rugi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exe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Harga americano yang lebih tinggi dibandingkan kompetitor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exe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Kebangkrutan bisa terjadi jika terus mengubah harga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17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179577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358515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537450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716387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/>
          <p:nvPr/>
        </p:nvSpPr>
        <p:spPr>
          <a:xfrm>
            <a:off x="150" y="-30075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PROBLEM </a:t>
            </a: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ANALYSIS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18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203" name="Google Shape;203;p18" title="Logo Putih COMPFES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18" title="Logo CF1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18"/>
          <p:cNvSpPr/>
          <p:nvPr/>
        </p:nvSpPr>
        <p:spPr>
          <a:xfrm>
            <a:off x="240750" y="571375"/>
            <a:ext cx="1509300" cy="742200"/>
          </a:xfrm>
          <a:prstGeom prst="roundRect">
            <a:avLst>
              <a:gd fmla="val 16667" name="adj"/>
            </a:avLst>
          </a:prstGeom>
          <a:solidFill>
            <a:srgbClr val="ACFFE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240750" y="1227000"/>
            <a:ext cx="1509300" cy="742200"/>
          </a:xfrm>
          <a:prstGeom prst="roundRect">
            <a:avLst>
              <a:gd fmla="val 16667" name="adj"/>
            </a:avLst>
          </a:prstGeom>
          <a:solidFill>
            <a:srgbClr val="8DE0C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240750" y="1851700"/>
            <a:ext cx="1509300" cy="742200"/>
          </a:xfrm>
          <a:prstGeom prst="roundRect">
            <a:avLst>
              <a:gd fmla="val 16667" name="adj"/>
            </a:avLst>
          </a:prstGeom>
          <a:solidFill>
            <a:srgbClr val="80D4B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240750" y="2482550"/>
            <a:ext cx="1509300" cy="742200"/>
          </a:xfrm>
          <a:prstGeom prst="roundRect">
            <a:avLst>
              <a:gd fmla="val 16667" name="adj"/>
            </a:avLst>
          </a:prstGeom>
          <a:solidFill>
            <a:srgbClr val="74B7A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1674625" y="567075"/>
            <a:ext cx="7228800" cy="742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1674625" y="1227000"/>
            <a:ext cx="7228800" cy="742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1674625" y="1851700"/>
            <a:ext cx="7228800" cy="742200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1674625" y="2482550"/>
            <a:ext cx="7228800" cy="2147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261025" y="730425"/>
            <a:ext cx="141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Key Point</a:t>
            </a:r>
            <a:endParaRPr b="1" sz="15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240750" y="1226988"/>
            <a:ext cx="141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Reviewed Aspects</a:t>
            </a:r>
            <a:endParaRPr b="1" sz="15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240750" y="1970263"/>
            <a:ext cx="141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Problems</a:t>
            </a:r>
            <a:endParaRPr b="1" sz="15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240750" y="2530388"/>
            <a:ext cx="141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Problems Description</a:t>
            </a:r>
            <a:endParaRPr b="1" sz="15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1767200" y="652575"/>
            <a:ext cx="7008000" cy="4935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7150" rotWithShape="0" algn="bl" dir="270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2034325" y="691575"/>
            <a:ext cx="650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Menjamin Keberlanjutan Bisnis di Tengah Persaingan</a:t>
            </a:r>
            <a:endParaRPr b="1" sz="15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1750050" y="1303500"/>
            <a:ext cx="2235900" cy="493500"/>
          </a:xfrm>
          <a:prstGeom prst="rect">
            <a:avLst/>
          </a:prstGeom>
          <a:solidFill>
            <a:srgbClr val="E9E9E9"/>
          </a:solidFill>
          <a:ln>
            <a:noFill/>
          </a:ln>
          <a:effectLst>
            <a:outerShdw blurRad="57150" rotWithShape="0" algn="bl" dir="270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4144698" y="1303500"/>
            <a:ext cx="2235900" cy="493500"/>
          </a:xfrm>
          <a:prstGeom prst="rect">
            <a:avLst/>
          </a:prstGeom>
          <a:solidFill>
            <a:srgbClr val="E9E9E9"/>
          </a:solidFill>
          <a:ln>
            <a:noFill/>
          </a:ln>
          <a:effectLst>
            <a:outerShdw blurRad="57150" rotWithShape="0" algn="bl" dir="270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6539345" y="1303500"/>
            <a:ext cx="2235900" cy="493500"/>
          </a:xfrm>
          <a:prstGeom prst="rect">
            <a:avLst/>
          </a:prstGeom>
          <a:solidFill>
            <a:srgbClr val="E9E9E9"/>
          </a:solidFill>
          <a:ln>
            <a:noFill/>
          </a:ln>
          <a:effectLst>
            <a:outerShdw blurRad="57150" rotWithShape="0" algn="bl" dir="270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1750050" y="1342488"/>
            <a:ext cx="223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Keuangan</a:t>
            </a:r>
            <a:endParaRPr b="1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4144700" y="1342500"/>
            <a:ext cx="223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Strategi Pertumbuhan</a:t>
            </a:r>
            <a:endParaRPr b="1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6539350" y="1342500"/>
            <a:ext cx="223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Operasional</a:t>
            </a:r>
            <a:endParaRPr b="1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1750050" y="1931275"/>
            <a:ext cx="1095300" cy="493500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57150" rotWithShape="0" algn="bl" dir="270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2890650" y="1931275"/>
            <a:ext cx="1095300" cy="493500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57150" rotWithShape="0" algn="bl" dir="270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4144700" y="1931275"/>
            <a:ext cx="1095300" cy="493500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57150" rotWithShape="0" algn="bl" dir="270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5285300" y="1931275"/>
            <a:ext cx="1095300" cy="493500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57150" rotWithShape="0" algn="bl" dir="270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6539350" y="1939125"/>
            <a:ext cx="1095300" cy="493500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57150" rotWithShape="0" algn="bl" dir="270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7679950" y="1939125"/>
            <a:ext cx="1095300" cy="493500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57150" rotWithShape="0" algn="bl" dir="270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1750050" y="2559050"/>
            <a:ext cx="1095300" cy="199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270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2890650" y="2559050"/>
            <a:ext cx="1095300" cy="199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270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"/>
          <p:cNvSpPr/>
          <p:nvPr/>
        </p:nvSpPr>
        <p:spPr>
          <a:xfrm>
            <a:off x="4153250" y="2559050"/>
            <a:ext cx="1095300" cy="199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270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5293850" y="2559050"/>
            <a:ext cx="1095300" cy="199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270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6556450" y="2574750"/>
            <a:ext cx="1095300" cy="199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270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7697050" y="2574750"/>
            <a:ext cx="1095300" cy="199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270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18" title="business-woman-cartoon-face-a-problem-about-her-vector-15378353.jpg"/>
          <p:cNvPicPr preferRelativeResize="0"/>
          <p:nvPr/>
        </p:nvPicPr>
        <p:blipFill rotWithShape="1">
          <a:blip r:embed="rId5">
            <a:alphaModFix/>
          </a:blip>
          <a:srcRect b="11378" l="7023" r="8452" t="0"/>
          <a:stretch/>
        </p:blipFill>
        <p:spPr>
          <a:xfrm>
            <a:off x="283472" y="3550475"/>
            <a:ext cx="1299270" cy="1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 txBox="1"/>
          <p:nvPr/>
        </p:nvSpPr>
        <p:spPr>
          <a:xfrm>
            <a:off x="1750050" y="2024125"/>
            <a:ext cx="10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Konvensionalitas</a:t>
            </a:r>
            <a:endParaRPr b="1"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2890650" y="19624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Rekening campur pribadi-bisnis</a:t>
            </a:r>
            <a:endParaRPr b="1"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4144700" y="19624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Strategi marketing</a:t>
            </a:r>
            <a:endParaRPr b="1"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5285300" y="1962475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Kehadiran kompetitor</a:t>
            </a:r>
            <a:endParaRPr b="1"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6539350" y="2031975"/>
            <a:ext cx="10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Harga produk</a:t>
            </a:r>
            <a:endParaRPr b="1"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7679950" y="1908825"/>
            <a:ext cx="10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Pengeluaran wajib tidak terkelola</a:t>
            </a:r>
            <a:endParaRPr b="1"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1724850" y="2613350"/>
            <a:ext cx="109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Catatan keuangan menggunakan buku catatan manual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5" name="Google Shape;245;p18" title="19-194673_book-stack-clipart-black-and-white-hd-pn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69451" y="3299524"/>
            <a:ext cx="212600" cy="168148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pic>
      <p:pic>
        <p:nvPicPr>
          <p:cNvPr id="246" name="Google Shape;246;p18" title="360_F_530791557_T8hNharBQQJqmw0R2FRjCrC9CgNwaeui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2096567" y="3488451"/>
            <a:ext cx="351875" cy="197625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pic>
      <p:sp>
        <p:nvSpPr>
          <p:cNvPr id="247" name="Google Shape;247;p18"/>
          <p:cNvSpPr txBox="1"/>
          <p:nvPr/>
        </p:nvSpPr>
        <p:spPr>
          <a:xfrm>
            <a:off x="1750050" y="3754938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Risiko salah mencatat tinggi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1750050" y="4110863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Kurang transparan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2890650" y="2594138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Rekening tidak dipisah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0" name="Google Shape;250;p18" title="360_F_530791557_T8hNharBQQJqmw0R2FRjCrC9CgNwaeui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3262367" y="3102376"/>
            <a:ext cx="351875" cy="197625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pic>
      <p:sp>
        <p:nvSpPr>
          <p:cNvPr id="251" name="Google Shape;251;p18"/>
          <p:cNvSpPr txBox="1"/>
          <p:nvPr/>
        </p:nvSpPr>
        <p:spPr>
          <a:xfrm>
            <a:off x="2890650" y="3418138"/>
            <a:ext cx="10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Pengelolaan keuangan berantakan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2890650" y="3935063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Telat bayar sewa dan gaji barista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4153250" y="2613338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Penggunaan brosur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4" name="Google Shape;254;p18" title="360_F_530791557_T8hNharBQQJqmw0R2FRjCrC9CgNwaeui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4524954" y="3102376"/>
            <a:ext cx="351875" cy="197625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pic>
      <p:sp>
        <p:nvSpPr>
          <p:cNvPr id="255" name="Google Shape;255;p18"/>
          <p:cNvSpPr txBox="1"/>
          <p:nvPr/>
        </p:nvSpPr>
        <p:spPr>
          <a:xfrm>
            <a:off x="4153250" y="3502688"/>
            <a:ext cx="10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Tidak banyak orang yang akan memperhatikan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6" name="Google Shape;256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97675" y="4142850"/>
            <a:ext cx="431100" cy="4311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pic>
      <p:pic>
        <p:nvPicPr>
          <p:cNvPr id="257" name="Google Shape;257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52263" y="4021330"/>
            <a:ext cx="528325" cy="52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8"/>
          <p:cNvSpPr txBox="1"/>
          <p:nvPr/>
        </p:nvSpPr>
        <p:spPr>
          <a:xfrm>
            <a:off x="5293850" y="2613338"/>
            <a:ext cx="109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Kompetitor memiliki strategi bisnis yang lebih optimal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9" name="Google Shape;259;p18" title="360_F_530791557_T8hNharBQQJqmw0R2FRjCrC9CgNwaeui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5665554" y="3327638"/>
            <a:ext cx="351875" cy="197625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pic>
      <p:sp>
        <p:nvSpPr>
          <p:cNvPr id="260" name="Google Shape;260;p18"/>
          <p:cNvSpPr txBox="1"/>
          <p:nvPr/>
        </p:nvSpPr>
        <p:spPr>
          <a:xfrm>
            <a:off x="5285300" y="3631938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Pelanggan beralih tempat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6556450" y="2629038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Harga menu yang naik-turun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2" name="Google Shape;262;p18" title="360_F_530791557_T8hNharBQQJqmw0R2FRjCrC9CgNwaeui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6911054" y="3139588"/>
            <a:ext cx="351875" cy="197625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pic>
      <p:sp>
        <p:nvSpPr>
          <p:cNvPr id="263" name="Google Shape;263;p18"/>
          <p:cNvSpPr txBox="1"/>
          <p:nvPr/>
        </p:nvSpPr>
        <p:spPr>
          <a:xfrm>
            <a:off x="6556450" y="3422050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Pelanggan kebingungan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6556450" y="3860850"/>
            <a:ext cx="10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Pelanggan membeli item yang lebih murah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7720875" y="2629213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Selalu kehabisan bahan baku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6" name="Google Shape;266;p18" title="360_F_530791557_T8hNharBQQJqmw0R2FRjCrC9CgNwaeui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8068767" y="3488438"/>
            <a:ext cx="351875" cy="197625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pic>
      <p:sp>
        <p:nvSpPr>
          <p:cNvPr id="267" name="Google Shape;267;p18"/>
          <p:cNvSpPr txBox="1"/>
          <p:nvPr/>
        </p:nvSpPr>
        <p:spPr>
          <a:xfrm>
            <a:off x="7697050" y="4066950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Pemasukan menipis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8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8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18"/>
          <p:cNvSpPr txBox="1"/>
          <p:nvPr/>
        </p:nvSpPr>
        <p:spPr>
          <a:xfrm>
            <a:off x="1790250" y="481605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18"/>
          <p:cNvSpPr txBox="1"/>
          <p:nvPr/>
        </p:nvSpPr>
        <p:spPr>
          <a:xfrm>
            <a:off x="3585150" y="481605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18"/>
          <p:cNvSpPr txBox="1"/>
          <p:nvPr/>
        </p:nvSpPr>
        <p:spPr>
          <a:xfrm>
            <a:off x="537450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18"/>
          <p:cNvSpPr txBox="1"/>
          <p:nvPr/>
        </p:nvSpPr>
        <p:spPr>
          <a:xfrm>
            <a:off x="716387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18"/>
          <p:cNvSpPr txBox="1"/>
          <p:nvPr/>
        </p:nvSpPr>
        <p:spPr>
          <a:xfrm>
            <a:off x="7697050" y="3735900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Ketidaktersediaan item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18"/>
          <p:cNvSpPr txBox="1"/>
          <p:nvPr/>
        </p:nvSpPr>
        <p:spPr>
          <a:xfrm>
            <a:off x="7697050" y="2947038"/>
            <a:ext cx="10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Telat bayar sewa dan gaji</a:t>
            </a:r>
            <a:endParaRPr sz="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1" name="Google Shape;281;p18" title="pngtree-wooden-menu-label-vector-cartoon-illustration-png-image_5376503 (1)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63875" y="2963213"/>
            <a:ext cx="528325" cy="5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"/>
          <p:cNvSpPr/>
          <p:nvPr/>
        </p:nvSpPr>
        <p:spPr>
          <a:xfrm>
            <a:off x="150" y="-30075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G4C Strategy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19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290" name="Google Shape;290;p19" title="Logo Putih COMPFES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19" title="Logo CF1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2" name="Google Shape;292;p19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19"/>
          <p:cNvSpPr txBox="1"/>
          <p:nvPr/>
        </p:nvSpPr>
        <p:spPr>
          <a:xfrm>
            <a:off x="1769650" y="4818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19"/>
          <p:cNvSpPr txBox="1"/>
          <p:nvPr/>
        </p:nvSpPr>
        <p:spPr>
          <a:xfrm>
            <a:off x="3564550" y="4818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53795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19"/>
          <p:cNvSpPr txBox="1"/>
          <p:nvPr/>
        </p:nvSpPr>
        <p:spPr>
          <a:xfrm>
            <a:off x="716387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504000" y="965675"/>
            <a:ext cx="2422200" cy="3666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88550" lIns="88550" spcFirstLastPara="1" rIns="88550" wrap="square" tIns="8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5"/>
          </a:p>
        </p:txBody>
      </p:sp>
      <p:sp>
        <p:nvSpPr>
          <p:cNvPr id="304" name="Google Shape;304;p19"/>
          <p:cNvSpPr/>
          <p:nvPr/>
        </p:nvSpPr>
        <p:spPr>
          <a:xfrm>
            <a:off x="504000" y="923674"/>
            <a:ext cx="2422200" cy="4026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flat" cmpd="sng" w="9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88550" lIns="88550" spcFirstLastPara="1" rIns="88550" wrap="square" tIns="8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5"/>
          </a:p>
        </p:txBody>
      </p:sp>
      <p:sp>
        <p:nvSpPr>
          <p:cNvPr id="305" name="Google Shape;305;p19"/>
          <p:cNvSpPr txBox="1"/>
          <p:nvPr/>
        </p:nvSpPr>
        <p:spPr>
          <a:xfrm>
            <a:off x="-55575" y="910576"/>
            <a:ext cx="35415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550" lIns="88550" spcFirstLastPara="1" rIns="88550" wrap="square" tIns="885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2">
                <a:solidFill>
                  <a:srgbClr val="9CAFAA"/>
                </a:solidFill>
                <a:latin typeface="Lexend"/>
                <a:ea typeface="Lexend"/>
                <a:cs typeface="Lexend"/>
                <a:sym typeface="Lexend"/>
              </a:rPr>
              <a:t>G4C Strategy</a:t>
            </a:r>
            <a:endParaRPr b="1" sz="1452">
              <a:solidFill>
                <a:srgbClr val="9CAFA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3144767" y="934473"/>
            <a:ext cx="1518600" cy="450900"/>
          </a:xfrm>
          <a:prstGeom prst="rtTriangle">
            <a:avLst/>
          </a:prstGeom>
          <a:solidFill>
            <a:srgbClr val="80D4B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2375" lIns="92375" spcFirstLastPara="1" rIns="92375" wrap="square" tIns="9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4"/>
          </a:p>
        </p:txBody>
      </p:sp>
      <p:sp>
        <p:nvSpPr>
          <p:cNvPr id="307" name="Google Shape;307;p19"/>
          <p:cNvSpPr/>
          <p:nvPr/>
        </p:nvSpPr>
        <p:spPr>
          <a:xfrm rot="10800000">
            <a:off x="3144717" y="922590"/>
            <a:ext cx="1518600" cy="450900"/>
          </a:xfrm>
          <a:prstGeom prst="rtTriangle">
            <a:avLst/>
          </a:prstGeom>
          <a:solidFill>
            <a:srgbClr val="74B7A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2375" lIns="92375" spcFirstLastPara="1" rIns="92375" wrap="square" tIns="92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4"/>
          </a:p>
        </p:txBody>
      </p:sp>
      <p:sp>
        <p:nvSpPr>
          <p:cNvPr id="308" name="Google Shape;308;p19"/>
          <p:cNvSpPr txBox="1"/>
          <p:nvPr/>
        </p:nvSpPr>
        <p:spPr>
          <a:xfrm>
            <a:off x="3667040" y="843088"/>
            <a:ext cx="10677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8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Strategy Chosen</a:t>
            </a:r>
            <a:endParaRPr b="1" sz="808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19"/>
          <p:cNvSpPr txBox="1"/>
          <p:nvPr/>
        </p:nvSpPr>
        <p:spPr>
          <a:xfrm>
            <a:off x="3089375" y="1137955"/>
            <a:ext cx="10677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8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Solved Issues</a:t>
            </a:r>
            <a:endParaRPr b="1" sz="808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0" name="Google Shape;310;p19"/>
          <p:cNvGrpSpPr/>
          <p:nvPr/>
        </p:nvGrpSpPr>
        <p:grpSpPr>
          <a:xfrm>
            <a:off x="4734750" y="447075"/>
            <a:ext cx="2466000" cy="357300"/>
            <a:chOff x="4734750" y="447075"/>
            <a:chExt cx="2466000" cy="357300"/>
          </a:xfrm>
        </p:grpSpPr>
        <p:sp>
          <p:nvSpPr>
            <p:cNvPr id="311" name="Google Shape;311;p19"/>
            <p:cNvSpPr/>
            <p:nvPr/>
          </p:nvSpPr>
          <p:spPr>
            <a:xfrm>
              <a:off x="4734750" y="470175"/>
              <a:ext cx="2466000" cy="311100"/>
            </a:xfrm>
            <a:prstGeom prst="roundRect">
              <a:avLst>
                <a:gd fmla="val 16667" name="adj"/>
              </a:avLst>
            </a:prstGeom>
            <a:solidFill>
              <a:srgbClr val="9CAFAA"/>
            </a:solidFill>
            <a:ln cap="flat" cmpd="sng" w="9525">
              <a:solidFill>
                <a:srgbClr val="69544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9"/>
            <p:cNvSpPr txBox="1"/>
            <p:nvPr/>
          </p:nvSpPr>
          <p:spPr>
            <a:xfrm>
              <a:off x="5239200" y="447075"/>
              <a:ext cx="1457100" cy="3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2375" lIns="92375" spcFirstLastPara="1" rIns="92375" wrap="square" tIns="923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8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KoFest Owner</a:t>
              </a:r>
              <a:endParaRPr b="1" sz="1108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3" name="Google Shape;313;p19"/>
          <p:cNvSpPr/>
          <p:nvPr/>
        </p:nvSpPr>
        <p:spPr>
          <a:xfrm>
            <a:off x="4783775" y="932275"/>
            <a:ext cx="780600" cy="402600"/>
          </a:xfrm>
          <a:prstGeom prst="roundRect">
            <a:avLst>
              <a:gd fmla="val 16667" name="adj"/>
            </a:avLst>
          </a:prstGeom>
          <a:solidFill>
            <a:srgbClr val="FADA7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9"/>
          <p:cNvSpPr/>
          <p:nvPr/>
        </p:nvSpPr>
        <p:spPr>
          <a:xfrm>
            <a:off x="5601988" y="932275"/>
            <a:ext cx="780600" cy="402600"/>
          </a:xfrm>
          <a:prstGeom prst="roundRect">
            <a:avLst>
              <a:gd fmla="val 16667" name="adj"/>
            </a:avLst>
          </a:prstGeom>
          <a:solidFill>
            <a:srgbClr val="FADA7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9"/>
          <p:cNvSpPr/>
          <p:nvPr/>
        </p:nvSpPr>
        <p:spPr>
          <a:xfrm>
            <a:off x="6420202" y="932275"/>
            <a:ext cx="780600" cy="402600"/>
          </a:xfrm>
          <a:prstGeom prst="roundRect">
            <a:avLst>
              <a:gd fmla="val 16667" name="adj"/>
            </a:avLst>
          </a:prstGeom>
          <a:solidFill>
            <a:srgbClr val="FADA7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9"/>
          <p:cNvSpPr txBox="1"/>
          <p:nvPr/>
        </p:nvSpPr>
        <p:spPr>
          <a:xfrm>
            <a:off x="4803425" y="986525"/>
            <a:ext cx="72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b="1" lang="en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rowCo</a:t>
            </a:r>
            <a:endParaRPr b="1"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5601988" y="995125"/>
            <a:ext cx="780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oFinance</a:t>
            </a:r>
            <a:endParaRPr b="1"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6445577" y="995125"/>
            <a:ext cx="72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oSupply</a:t>
            </a:r>
            <a:endParaRPr b="1"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9" name="Google Shape;319;p19"/>
          <p:cNvGrpSpPr/>
          <p:nvPr/>
        </p:nvGrpSpPr>
        <p:grpSpPr>
          <a:xfrm>
            <a:off x="7340358" y="447075"/>
            <a:ext cx="1686744" cy="357300"/>
            <a:chOff x="4734750" y="447075"/>
            <a:chExt cx="2466000" cy="357300"/>
          </a:xfrm>
        </p:grpSpPr>
        <p:sp>
          <p:nvSpPr>
            <p:cNvPr id="320" name="Google Shape;320;p19"/>
            <p:cNvSpPr/>
            <p:nvPr/>
          </p:nvSpPr>
          <p:spPr>
            <a:xfrm>
              <a:off x="4734750" y="470175"/>
              <a:ext cx="2466000" cy="311100"/>
            </a:xfrm>
            <a:prstGeom prst="roundRect">
              <a:avLst>
                <a:gd fmla="val 16667" name="adj"/>
              </a:avLst>
            </a:prstGeom>
            <a:solidFill>
              <a:srgbClr val="9CAFAA"/>
            </a:solidFill>
            <a:ln cap="flat" cmpd="sng" w="9525">
              <a:solidFill>
                <a:srgbClr val="69544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9"/>
            <p:cNvSpPr txBox="1"/>
            <p:nvPr/>
          </p:nvSpPr>
          <p:spPr>
            <a:xfrm>
              <a:off x="5239200" y="447075"/>
              <a:ext cx="1457100" cy="3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2375" lIns="92375" spcFirstLastPara="1" rIns="92375" wrap="square" tIns="923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8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Comfee</a:t>
              </a:r>
              <a:endParaRPr b="1" sz="1108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22" name="Google Shape;322;p19"/>
          <p:cNvSpPr/>
          <p:nvPr/>
        </p:nvSpPr>
        <p:spPr>
          <a:xfrm>
            <a:off x="7340351" y="932275"/>
            <a:ext cx="823500" cy="402600"/>
          </a:xfrm>
          <a:prstGeom prst="roundRect">
            <a:avLst>
              <a:gd fmla="val 16667" name="adj"/>
            </a:avLst>
          </a:prstGeom>
          <a:solidFill>
            <a:srgbClr val="FADA7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9"/>
          <p:cNvSpPr/>
          <p:nvPr/>
        </p:nvSpPr>
        <p:spPr>
          <a:xfrm>
            <a:off x="8203567" y="932275"/>
            <a:ext cx="823500" cy="402600"/>
          </a:xfrm>
          <a:prstGeom prst="roundRect">
            <a:avLst>
              <a:gd fmla="val 16667" name="adj"/>
            </a:avLst>
          </a:prstGeom>
          <a:solidFill>
            <a:srgbClr val="FADA7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7387152" y="954825"/>
            <a:ext cx="72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omfee </a:t>
            </a:r>
            <a:r>
              <a:rPr b="1" lang="en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Order and Queue </a:t>
            </a:r>
            <a:endParaRPr b="1"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8250377" y="993405"/>
            <a:ext cx="72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oPromo!</a:t>
            </a:r>
            <a:endParaRPr b="1"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3151125" y="1489050"/>
            <a:ext cx="1529100" cy="436800"/>
          </a:xfrm>
          <a:prstGeom prst="roundRect">
            <a:avLst>
              <a:gd fmla="val 16667" name="adj"/>
            </a:avLst>
          </a:prstGeom>
          <a:solidFill>
            <a:srgbClr val="FADA7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9"/>
          <p:cNvSpPr/>
          <p:nvPr/>
        </p:nvSpPr>
        <p:spPr>
          <a:xfrm>
            <a:off x="3151125" y="2029525"/>
            <a:ext cx="1529100" cy="436800"/>
          </a:xfrm>
          <a:prstGeom prst="roundRect">
            <a:avLst>
              <a:gd fmla="val 16667" name="adj"/>
            </a:avLst>
          </a:prstGeom>
          <a:solidFill>
            <a:srgbClr val="FADA7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9"/>
          <p:cNvSpPr/>
          <p:nvPr/>
        </p:nvSpPr>
        <p:spPr>
          <a:xfrm>
            <a:off x="3151125" y="2571750"/>
            <a:ext cx="1529100" cy="436800"/>
          </a:xfrm>
          <a:prstGeom prst="roundRect">
            <a:avLst>
              <a:gd fmla="val 16667" name="adj"/>
            </a:avLst>
          </a:prstGeom>
          <a:solidFill>
            <a:srgbClr val="FADA7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3151125" y="3112225"/>
            <a:ext cx="1529100" cy="436800"/>
          </a:xfrm>
          <a:prstGeom prst="roundRect">
            <a:avLst>
              <a:gd fmla="val 16667" name="adj"/>
            </a:avLst>
          </a:prstGeom>
          <a:solidFill>
            <a:srgbClr val="FADA7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"/>
          <p:cNvSpPr/>
          <p:nvPr/>
        </p:nvSpPr>
        <p:spPr>
          <a:xfrm>
            <a:off x="3151125" y="3653563"/>
            <a:ext cx="1529100" cy="436800"/>
          </a:xfrm>
          <a:prstGeom prst="roundRect">
            <a:avLst>
              <a:gd fmla="val 16667" name="adj"/>
            </a:avLst>
          </a:prstGeom>
          <a:solidFill>
            <a:srgbClr val="FADA7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9"/>
          <p:cNvSpPr/>
          <p:nvPr/>
        </p:nvSpPr>
        <p:spPr>
          <a:xfrm>
            <a:off x="3151125" y="4194913"/>
            <a:ext cx="1529100" cy="436800"/>
          </a:xfrm>
          <a:prstGeom prst="roundRect">
            <a:avLst>
              <a:gd fmla="val 16667" name="adj"/>
            </a:avLst>
          </a:prstGeom>
          <a:solidFill>
            <a:srgbClr val="FADA7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9"/>
          <p:cNvSpPr/>
          <p:nvPr/>
        </p:nvSpPr>
        <p:spPr>
          <a:xfrm rot="-5400000">
            <a:off x="3029788" y="1612388"/>
            <a:ext cx="436200" cy="192475"/>
          </a:xfrm>
          <a:prstGeom prst="flowChartOffpageConnector">
            <a:avLst/>
          </a:prstGeom>
          <a:solidFill>
            <a:srgbClr val="F0A04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"/>
          <p:cNvSpPr/>
          <p:nvPr/>
        </p:nvSpPr>
        <p:spPr>
          <a:xfrm rot="-5400000">
            <a:off x="3029788" y="2153000"/>
            <a:ext cx="436200" cy="192475"/>
          </a:xfrm>
          <a:prstGeom prst="flowChartOffpageConnector">
            <a:avLst/>
          </a:prstGeom>
          <a:solidFill>
            <a:srgbClr val="F0A04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9"/>
          <p:cNvSpPr/>
          <p:nvPr/>
        </p:nvSpPr>
        <p:spPr>
          <a:xfrm rot="-5400000">
            <a:off x="3029788" y="2693025"/>
            <a:ext cx="436200" cy="192475"/>
          </a:xfrm>
          <a:prstGeom prst="flowChartOffpageConnector">
            <a:avLst/>
          </a:prstGeom>
          <a:solidFill>
            <a:srgbClr val="F0A04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9"/>
          <p:cNvSpPr/>
          <p:nvPr/>
        </p:nvSpPr>
        <p:spPr>
          <a:xfrm rot="-5400000">
            <a:off x="3029788" y="3234813"/>
            <a:ext cx="436200" cy="192475"/>
          </a:xfrm>
          <a:prstGeom prst="flowChartOffpageConnector">
            <a:avLst/>
          </a:prstGeom>
          <a:solidFill>
            <a:srgbClr val="F0A04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 rot="-5400000">
            <a:off x="3029788" y="3775738"/>
            <a:ext cx="436200" cy="192475"/>
          </a:xfrm>
          <a:prstGeom prst="flowChartOffpageConnector">
            <a:avLst/>
          </a:prstGeom>
          <a:solidFill>
            <a:srgbClr val="F0A04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 rot="-5400000">
            <a:off x="3029788" y="4316663"/>
            <a:ext cx="436200" cy="192475"/>
          </a:xfrm>
          <a:prstGeom prst="flowChartOffpageConnector">
            <a:avLst/>
          </a:prstGeom>
          <a:solidFill>
            <a:srgbClr val="F0A04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9"/>
          <p:cNvSpPr txBox="1"/>
          <p:nvPr/>
        </p:nvSpPr>
        <p:spPr>
          <a:xfrm>
            <a:off x="3089375" y="1545963"/>
            <a:ext cx="369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8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#1</a:t>
            </a:r>
            <a:endParaRPr b="1" sz="808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3089375" y="2092963"/>
            <a:ext cx="369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8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#2</a:t>
            </a:r>
            <a:endParaRPr b="1" sz="808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3089363" y="2633725"/>
            <a:ext cx="369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8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#3</a:t>
            </a:r>
            <a:endParaRPr b="1" sz="808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3089363" y="3175650"/>
            <a:ext cx="369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8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#4</a:t>
            </a:r>
            <a:endParaRPr b="1" sz="808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3089363" y="3716475"/>
            <a:ext cx="369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8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#5</a:t>
            </a:r>
            <a:endParaRPr b="1" sz="808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3089375" y="4259138"/>
            <a:ext cx="369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8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#6</a:t>
            </a:r>
            <a:endParaRPr b="1" sz="808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3344125" y="1505088"/>
            <a:ext cx="13494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8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Konvensionalitas &amp; tidak mengikuti tren teknologi</a:t>
            </a:r>
            <a:endParaRPr b="1" sz="708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3344125" y="2046438"/>
            <a:ext cx="13494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8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Rekening yang tercampur</a:t>
            </a:r>
            <a:endParaRPr b="1" sz="708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3344125" y="2587788"/>
            <a:ext cx="13494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8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Strategi kurang inovatif dan menarik perhatian</a:t>
            </a:r>
            <a:endParaRPr b="1" sz="708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3344125" y="3120675"/>
            <a:ext cx="1439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8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Daya saing rendah dibandingkan kompetitor</a:t>
            </a:r>
            <a:endParaRPr b="1" sz="708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3344125" y="3712338"/>
            <a:ext cx="1349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8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Fluktuasi harga produk</a:t>
            </a:r>
            <a:endParaRPr b="1" sz="708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3344125" y="4148013"/>
            <a:ext cx="13494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8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Tidak terkelolanya pengeluaran operasional wajib</a:t>
            </a:r>
            <a:endParaRPr b="1" sz="708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6398775" y="3144375"/>
            <a:ext cx="823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8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endParaRPr b="1" sz="1108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19"/>
          <p:cNvSpPr txBox="1"/>
          <p:nvPr/>
        </p:nvSpPr>
        <p:spPr>
          <a:xfrm>
            <a:off x="6398750" y="2624450"/>
            <a:ext cx="823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8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endParaRPr b="1" sz="1108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6692450" y="4303763"/>
            <a:ext cx="236100" cy="23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p19" title="1-removebg-preview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495412">
            <a:off x="1340927" y="1259374"/>
            <a:ext cx="1765123" cy="313490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54" name="Google Shape;354;p19" title="1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424932">
            <a:off x="220255" y="1567046"/>
            <a:ext cx="1773758" cy="315016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55" name="Google Shape;355;p19"/>
          <p:cNvSpPr/>
          <p:nvPr/>
        </p:nvSpPr>
        <p:spPr>
          <a:xfrm>
            <a:off x="5050325" y="1586025"/>
            <a:ext cx="236100" cy="23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9"/>
          <p:cNvSpPr/>
          <p:nvPr/>
        </p:nvSpPr>
        <p:spPr>
          <a:xfrm>
            <a:off x="5849700" y="1586025"/>
            <a:ext cx="236100" cy="23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9"/>
          <p:cNvSpPr/>
          <p:nvPr/>
        </p:nvSpPr>
        <p:spPr>
          <a:xfrm>
            <a:off x="6692475" y="1598913"/>
            <a:ext cx="236100" cy="23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9"/>
          <p:cNvSpPr/>
          <p:nvPr/>
        </p:nvSpPr>
        <p:spPr>
          <a:xfrm>
            <a:off x="7634050" y="1598913"/>
            <a:ext cx="236100" cy="23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9"/>
          <p:cNvSpPr txBox="1"/>
          <p:nvPr/>
        </p:nvSpPr>
        <p:spPr>
          <a:xfrm>
            <a:off x="8203575" y="1535775"/>
            <a:ext cx="823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8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endParaRPr b="1" sz="1108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6692450" y="2111675"/>
            <a:ext cx="236100" cy="23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9"/>
          <p:cNvSpPr txBox="1"/>
          <p:nvPr/>
        </p:nvSpPr>
        <p:spPr>
          <a:xfrm>
            <a:off x="4762325" y="2049125"/>
            <a:ext cx="823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8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endParaRPr b="1" sz="1108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5846625" y="2105225"/>
            <a:ext cx="236100" cy="23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9"/>
          <p:cNvSpPr txBox="1"/>
          <p:nvPr/>
        </p:nvSpPr>
        <p:spPr>
          <a:xfrm>
            <a:off x="7340350" y="2050425"/>
            <a:ext cx="823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8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endParaRPr b="1" sz="1108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19"/>
          <p:cNvSpPr txBox="1"/>
          <p:nvPr/>
        </p:nvSpPr>
        <p:spPr>
          <a:xfrm>
            <a:off x="8203575" y="2048525"/>
            <a:ext cx="823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8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endParaRPr b="1" sz="1108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7634050" y="2673775"/>
            <a:ext cx="236100" cy="23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9"/>
          <p:cNvSpPr/>
          <p:nvPr/>
        </p:nvSpPr>
        <p:spPr>
          <a:xfrm>
            <a:off x="8497275" y="2673775"/>
            <a:ext cx="236100" cy="23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9"/>
          <p:cNvSpPr txBox="1"/>
          <p:nvPr/>
        </p:nvSpPr>
        <p:spPr>
          <a:xfrm>
            <a:off x="5552925" y="2624450"/>
            <a:ext cx="823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8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endParaRPr b="1" sz="1108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5056025" y="2687600"/>
            <a:ext cx="236100" cy="23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9"/>
          <p:cNvSpPr/>
          <p:nvPr/>
        </p:nvSpPr>
        <p:spPr>
          <a:xfrm>
            <a:off x="5050325" y="3234863"/>
            <a:ext cx="236100" cy="23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9"/>
          <p:cNvSpPr txBox="1"/>
          <p:nvPr/>
        </p:nvSpPr>
        <p:spPr>
          <a:xfrm>
            <a:off x="5552925" y="3130775"/>
            <a:ext cx="823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8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endParaRPr b="1" sz="1108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7634050" y="3220763"/>
            <a:ext cx="236100" cy="23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9"/>
          <p:cNvSpPr/>
          <p:nvPr/>
        </p:nvSpPr>
        <p:spPr>
          <a:xfrm>
            <a:off x="8497275" y="3231938"/>
            <a:ext cx="236100" cy="23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9"/>
          <p:cNvSpPr/>
          <p:nvPr/>
        </p:nvSpPr>
        <p:spPr>
          <a:xfrm>
            <a:off x="6692475" y="3764913"/>
            <a:ext cx="236100" cy="23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9"/>
          <p:cNvSpPr txBox="1"/>
          <p:nvPr/>
        </p:nvSpPr>
        <p:spPr>
          <a:xfrm>
            <a:off x="7340350" y="3715588"/>
            <a:ext cx="823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8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endParaRPr b="1" sz="1108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19"/>
          <p:cNvSpPr txBox="1"/>
          <p:nvPr/>
        </p:nvSpPr>
        <p:spPr>
          <a:xfrm>
            <a:off x="8203575" y="3715575"/>
            <a:ext cx="823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8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endParaRPr b="1" sz="1108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19"/>
          <p:cNvSpPr txBox="1"/>
          <p:nvPr/>
        </p:nvSpPr>
        <p:spPr>
          <a:xfrm>
            <a:off x="5552925" y="3713113"/>
            <a:ext cx="823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8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endParaRPr b="1" sz="1108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19"/>
          <p:cNvSpPr txBox="1"/>
          <p:nvPr/>
        </p:nvSpPr>
        <p:spPr>
          <a:xfrm>
            <a:off x="4780750" y="3713113"/>
            <a:ext cx="823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8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endParaRPr b="1" sz="1108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5874250" y="4320600"/>
            <a:ext cx="236100" cy="231000"/>
          </a:xfrm>
          <a:prstGeom prst="smileyFace">
            <a:avLst>
              <a:gd fmla="val 4653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 txBox="1"/>
          <p:nvPr/>
        </p:nvSpPr>
        <p:spPr>
          <a:xfrm>
            <a:off x="4780738" y="4257463"/>
            <a:ext cx="823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8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endParaRPr b="1" sz="1108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19"/>
          <p:cNvSpPr txBox="1"/>
          <p:nvPr/>
        </p:nvSpPr>
        <p:spPr>
          <a:xfrm>
            <a:off x="7340338" y="4258700"/>
            <a:ext cx="823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8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endParaRPr b="1" sz="1108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19"/>
          <p:cNvSpPr txBox="1"/>
          <p:nvPr/>
        </p:nvSpPr>
        <p:spPr>
          <a:xfrm>
            <a:off x="8203538" y="4258700"/>
            <a:ext cx="823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2375" lIns="92375" spcFirstLastPara="1" rIns="92375" wrap="square" tIns="92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8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endParaRPr b="1" sz="1108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0"/>
          <p:cNvSpPr/>
          <p:nvPr/>
        </p:nvSpPr>
        <p:spPr>
          <a:xfrm>
            <a:off x="150" y="-30075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0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‘Comfee’ : Enhancing Customer Experience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9" name="Google Shape;389;p20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390" name="Google Shape;390;p20" title="Logo Putih COMPFES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20" title="Logo CF1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2" name="Google Shape;392;p20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0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0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0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0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0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0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20"/>
          <p:cNvSpPr txBox="1"/>
          <p:nvPr/>
        </p:nvSpPr>
        <p:spPr>
          <a:xfrm>
            <a:off x="17902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0"/>
          <p:cNvSpPr txBox="1"/>
          <p:nvPr/>
        </p:nvSpPr>
        <p:spPr>
          <a:xfrm>
            <a:off x="358515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0"/>
          <p:cNvSpPr txBox="1"/>
          <p:nvPr/>
        </p:nvSpPr>
        <p:spPr>
          <a:xfrm>
            <a:off x="53795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716387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4" name="Google Shape;404;p20" title="1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07874" y="242000"/>
            <a:ext cx="2637875" cy="468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05" name="Google Shape;405;p20"/>
          <p:cNvSpPr/>
          <p:nvPr/>
        </p:nvSpPr>
        <p:spPr>
          <a:xfrm>
            <a:off x="2547422" y="2215024"/>
            <a:ext cx="1983300" cy="78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4651741" y="2215024"/>
            <a:ext cx="1983300" cy="78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0"/>
          <p:cNvSpPr/>
          <p:nvPr/>
        </p:nvSpPr>
        <p:spPr>
          <a:xfrm>
            <a:off x="6756059" y="2215024"/>
            <a:ext cx="1983300" cy="78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0"/>
          <p:cNvSpPr/>
          <p:nvPr/>
        </p:nvSpPr>
        <p:spPr>
          <a:xfrm>
            <a:off x="2537650" y="3112550"/>
            <a:ext cx="1983300" cy="146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0"/>
          <p:cNvSpPr/>
          <p:nvPr/>
        </p:nvSpPr>
        <p:spPr>
          <a:xfrm>
            <a:off x="6755950" y="3101437"/>
            <a:ext cx="1983300" cy="146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0"/>
          <p:cNvSpPr/>
          <p:nvPr/>
        </p:nvSpPr>
        <p:spPr>
          <a:xfrm rot="5400000">
            <a:off x="5175700" y="2627412"/>
            <a:ext cx="430500" cy="1740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0"/>
          <p:cNvSpPr/>
          <p:nvPr/>
        </p:nvSpPr>
        <p:spPr>
          <a:xfrm>
            <a:off x="2527875" y="873400"/>
            <a:ext cx="6209400" cy="6792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0"/>
          <p:cNvSpPr txBox="1"/>
          <p:nvPr/>
        </p:nvSpPr>
        <p:spPr>
          <a:xfrm>
            <a:off x="4686155" y="3266717"/>
            <a:ext cx="13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CoPromo!</a:t>
            </a:r>
            <a:endParaRPr b="1"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0"/>
          <p:cNvSpPr txBox="1"/>
          <p:nvPr/>
        </p:nvSpPr>
        <p:spPr>
          <a:xfrm>
            <a:off x="5020225" y="1701163"/>
            <a:ext cx="126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Fitur Comfee</a:t>
            </a:r>
            <a:endParaRPr b="1" sz="12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0"/>
          <p:cNvSpPr txBox="1"/>
          <p:nvPr/>
        </p:nvSpPr>
        <p:spPr>
          <a:xfrm>
            <a:off x="2556062" y="919393"/>
            <a:ext cx="617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Aplikasi </a:t>
            </a:r>
            <a:r>
              <a:rPr b="1"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Comfee</a:t>
            </a:r>
            <a:r>
              <a:rPr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ditargetkan untuk </a:t>
            </a:r>
            <a:r>
              <a:rPr lang="en" sz="1300" u="sng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memperlancar regulasi antrian</a:t>
            </a:r>
            <a:r>
              <a:rPr lang="en" sz="13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di kafe serta </a:t>
            </a:r>
            <a:r>
              <a:rPr lang="en" sz="1300" u="sng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memberikan pertumbuhan bisnis</a:t>
            </a:r>
            <a:r>
              <a:rPr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melalui loyalitas pelanggan</a:t>
            </a:r>
            <a:endParaRPr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5145642" y="574366"/>
            <a:ext cx="991500" cy="3009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0"/>
          <p:cNvSpPr/>
          <p:nvPr/>
        </p:nvSpPr>
        <p:spPr>
          <a:xfrm rot="-5400000">
            <a:off x="5675125" y="3284837"/>
            <a:ext cx="430500" cy="1740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0"/>
          <p:cNvSpPr txBox="1"/>
          <p:nvPr/>
        </p:nvSpPr>
        <p:spPr>
          <a:xfrm>
            <a:off x="5202350" y="540165"/>
            <a:ext cx="87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Goals</a:t>
            </a:r>
            <a:endParaRPr b="1" sz="12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0"/>
          <p:cNvSpPr txBox="1"/>
          <p:nvPr/>
        </p:nvSpPr>
        <p:spPr>
          <a:xfrm>
            <a:off x="5009970" y="3924137"/>
            <a:ext cx="188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Comfee Order</a:t>
            </a:r>
            <a:endParaRPr b="1"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2545425" y="2038324"/>
            <a:ext cx="1983300" cy="66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4649775" y="2055037"/>
            <a:ext cx="1983300" cy="66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6754050" y="2055267"/>
            <a:ext cx="1983300" cy="66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0"/>
          <p:cNvSpPr txBox="1"/>
          <p:nvPr/>
        </p:nvSpPr>
        <p:spPr>
          <a:xfrm>
            <a:off x="2908113" y="2664775"/>
            <a:ext cx="126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Payment</a:t>
            </a:r>
            <a:endParaRPr b="1" sz="12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0"/>
          <p:cNvSpPr txBox="1"/>
          <p:nvPr/>
        </p:nvSpPr>
        <p:spPr>
          <a:xfrm>
            <a:off x="5032775" y="2664788"/>
            <a:ext cx="126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Queue</a:t>
            </a:r>
            <a:endParaRPr b="1" sz="12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0"/>
          <p:cNvSpPr txBox="1"/>
          <p:nvPr/>
        </p:nvSpPr>
        <p:spPr>
          <a:xfrm>
            <a:off x="7124500" y="2664788"/>
            <a:ext cx="126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Input Box</a:t>
            </a:r>
            <a:endParaRPr b="1" sz="12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0"/>
          <p:cNvSpPr txBox="1"/>
          <p:nvPr/>
        </p:nvSpPr>
        <p:spPr>
          <a:xfrm>
            <a:off x="2581150" y="3352643"/>
            <a:ext cx="18885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Meningkatkan loyalitas </a:t>
            </a:r>
            <a:r>
              <a:rPr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pelanggan dengan </a:t>
            </a:r>
            <a:r>
              <a:rPr lang="en" sz="13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tawaran promo dan diskon</a:t>
            </a:r>
            <a:endParaRPr sz="18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0"/>
          <p:cNvSpPr txBox="1"/>
          <p:nvPr/>
        </p:nvSpPr>
        <p:spPr>
          <a:xfrm>
            <a:off x="2527867" y="2029408"/>
            <a:ext cx="1983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Melakukan pembayaran lewat scan barcode QRIS atau transfer</a:t>
            </a:r>
            <a:endParaRPr sz="11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0"/>
          <p:cNvSpPr txBox="1"/>
          <p:nvPr/>
        </p:nvSpPr>
        <p:spPr>
          <a:xfrm>
            <a:off x="4649763" y="2127083"/>
            <a:ext cx="198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Memberikan </a:t>
            </a:r>
            <a:r>
              <a:rPr lang="en" sz="11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list antrian </a:t>
            </a: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pemesanan offline</a:t>
            </a:r>
            <a:endParaRPr sz="11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20"/>
          <p:cNvSpPr txBox="1"/>
          <p:nvPr/>
        </p:nvSpPr>
        <p:spPr>
          <a:xfrm>
            <a:off x="6754088" y="2127083"/>
            <a:ext cx="198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Mengirimkan masukan atau komplain</a:t>
            </a:r>
            <a:endParaRPr sz="1100">
              <a:solidFill>
                <a:srgbClr val="CC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20"/>
          <p:cNvSpPr txBox="1"/>
          <p:nvPr/>
        </p:nvSpPr>
        <p:spPr>
          <a:xfrm>
            <a:off x="6795550" y="3153777"/>
            <a:ext cx="1925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Memberikan pilihan bagi pelanggan untuk </a:t>
            </a:r>
            <a:r>
              <a:rPr lang="en" sz="13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memesan secara online</a:t>
            </a:r>
            <a:r>
              <a:rPr lang="en" sz="13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kemudian </a:t>
            </a:r>
            <a:r>
              <a:rPr lang="en" sz="13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mengambil pesanan di kafe</a:t>
            </a:r>
            <a:endParaRPr sz="13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21" title="KOEST_CUSTOMER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9631" y="203864"/>
            <a:ext cx="2664950" cy="473298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35" name="Google Shape;435;p21"/>
          <p:cNvSpPr/>
          <p:nvPr/>
        </p:nvSpPr>
        <p:spPr>
          <a:xfrm>
            <a:off x="150" y="-30075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1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Comfee: Comfee Order and Queue Feature Feature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8" name="Google Shape;438;p21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439" name="Google Shape;439;p21" title="Logo Putih COMPFEST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0" name="Google Shape;440;p21" title="Logo CF17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1" name="Google Shape;441;p21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1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1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1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1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1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1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1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1"/>
          <p:cNvSpPr txBox="1"/>
          <p:nvPr/>
        </p:nvSpPr>
        <p:spPr>
          <a:xfrm>
            <a:off x="17902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358515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53795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21"/>
          <p:cNvSpPr txBox="1"/>
          <p:nvPr/>
        </p:nvSpPr>
        <p:spPr>
          <a:xfrm>
            <a:off x="716387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3" name="Google Shape;453;p21" title="KOEST_CUSTOMER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6425" y="229337"/>
            <a:ext cx="2637875" cy="468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21" title="3__1_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17859" y="215794"/>
            <a:ext cx="2664970" cy="470911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55" name="Google Shape;455;p21"/>
          <p:cNvSpPr/>
          <p:nvPr/>
        </p:nvSpPr>
        <p:spPr>
          <a:xfrm>
            <a:off x="662093" y="3484762"/>
            <a:ext cx="1104900" cy="705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1"/>
          <p:cNvSpPr/>
          <p:nvPr/>
        </p:nvSpPr>
        <p:spPr>
          <a:xfrm>
            <a:off x="361494" y="2336180"/>
            <a:ext cx="1696200" cy="974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1"/>
          <p:cNvSpPr/>
          <p:nvPr/>
        </p:nvSpPr>
        <p:spPr>
          <a:xfrm>
            <a:off x="2412475" y="839290"/>
            <a:ext cx="4332000" cy="26178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1"/>
          <p:cNvSpPr/>
          <p:nvPr/>
        </p:nvSpPr>
        <p:spPr>
          <a:xfrm>
            <a:off x="2412475" y="1179415"/>
            <a:ext cx="2172600" cy="738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1"/>
          <p:cNvSpPr txBox="1"/>
          <p:nvPr/>
        </p:nvSpPr>
        <p:spPr>
          <a:xfrm>
            <a:off x="2451625" y="1184215"/>
            <a:ext cx="209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Fitur Queue ditargetkan untuk </a:t>
            </a:r>
            <a:r>
              <a:rPr lang="en" sz="12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merapikan sistem antrian kafe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2412475" y="2296977"/>
            <a:ext cx="2172600" cy="23496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1"/>
          <p:cNvSpPr/>
          <p:nvPr/>
        </p:nvSpPr>
        <p:spPr>
          <a:xfrm>
            <a:off x="4584975" y="1179490"/>
            <a:ext cx="2159400" cy="738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1"/>
          <p:cNvSpPr/>
          <p:nvPr/>
        </p:nvSpPr>
        <p:spPr>
          <a:xfrm>
            <a:off x="4584975" y="2296977"/>
            <a:ext cx="2159400" cy="23496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3" name="Google Shape;463;p21"/>
          <p:cNvCxnSpPr>
            <a:stCxn id="456" idx="3"/>
            <a:endCxn id="460" idx="1"/>
          </p:cNvCxnSpPr>
          <p:nvPr/>
        </p:nvCxnSpPr>
        <p:spPr>
          <a:xfrm>
            <a:off x="2057694" y="2823380"/>
            <a:ext cx="354900" cy="648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21"/>
          <p:cNvSpPr/>
          <p:nvPr/>
        </p:nvSpPr>
        <p:spPr>
          <a:xfrm>
            <a:off x="7274050" y="1576475"/>
            <a:ext cx="1258800" cy="300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1"/>
          <p:cNvSpPr/>
          <p:nvPr/>
        </p:nvSpPr>
        <p:spPr>
          <a:xfrm>
            <a:off x="7239000" y="3310575"/>
            <a:ext cx="1349400" cy="264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6" name="Google Shape;466;p21"/>
          <p:cNvCxnSpPr>
            <a:stCxn id="461" idx="3"/>
            <a:endCxn id="464" idx="1"/>
          </p:cNvCxnSpPr>
          <p:nvPr/>
        </p:nvCxnSpPr>
        <p:spPr>
          <a:xfrm>
            <a:off x="6744375" y="1548940"/>
            <a:ext cx="529800" cy="177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21"/>
          <p:cNvCxnSpPr>
            <a:stCxn id="462" idx="3"/>
            <a:endCxn id="465" idx="1"/>
          </p:cNvCxnSpPr>
          <p:nvPr/>
        </p:nvCxnSpPr>
        <p:spPr>
          <a:xfrm flipH="1" rot="10800000">
            <a:off x="6744375" y="3442677"/>
            <a:ext cx="494700" cy="29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21"/>
          <p:cNvSpPr/>
          <p:nvPr/>
        </p:nvSpPr>
        <p:spPr>
          <a:xfrm>
            <a:off x="7236688" y="1954850"/>
            <a:ext cx="1349400" cy="264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1"/>
          <p:cNvSpPr txBox="1"/>
          <p:nvPr/>
        </p:nvSpPr>
        <p:spPr>
          <a:xfrm>
            <a:off x="2721923" y="431566"/>
            <a:ext cx="20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Queue Feature</a:t>
            </a:r>
            <a:endParaRPr b="1" sz="15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21"/>
          <p:cNvSpPr txBox="1"/>
          <p:nvPr/>
        </p:nvSpPr>
        <p:spPr>
          <a:xfrm>
            <a:off x="4542667" y="2278650"/>
            <a:ext cx="2304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"/>
              <a:buChar char="●"/>
            </a:pPr>
            <a:r>
              <a:rPr b="1" lang="en" sz="11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Your Current Order:</a:t>
            </a:r>
            <a:endParaRPr b="1" sz="11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Menampilkan </a:t>
            </a:r>
            <a:r>
              <a:rPr lang="en" sz="11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pemesanan lewat aplikasi</a:t>
            </a:r>
            <a:r>
              <a:rPr lang="en" sz="11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yang berlangsung</a:t>
            </a:r>
            <a:endParaRPr sz="11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"/>
              <a:buChar char="●"/>
            </a:pPr>
            <a:r>
              <a:rPr b="1" lang="en" sz="11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Order History:</a:t>
            </a:r>
            <a:endParaRPr b="1" sz="11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Menampilkan </a:t>
            </a:r>
            <a:r>
              <a:rPr lang="en" sz="11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riwayat pesanan</a:t>
            </a:r>
            <a:r>
              <a:rPr lang="en" sz="11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yang pernah dilakukan</a:t>
            </a:r>
            <a:endParaRPr sz="11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exend"/>
              <a:buChar char="●"/>
            </a:pPr>
            <a:r>
              <a:rPr b="1" lang="en" sz="11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Total Amount Saved:</a:t>
            </a:r>
            <a:endParaRPr b="1" sz="11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Menampilkan </a:t>
            </a:r>
            <a:r>
              <a:rPr lang="en" sz="11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total hemat </a:t>
            </a:r>
            <a:r>
              <a:rPr lang="en" sz="11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dari promo yang sudah terpakai</a:t>
            </a:r>
            <a:endParaRPr sz="11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21"/>
          <p:cNvSpPr txBox="1"/>
          <p:nvPr/>
        </p:nvSpPr>
        <p:spPr>
          <a:xfrm>
            <a:off x="2475213" y="2661608"/>
            <a:ext cx="20397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" sz="13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Pengguna menekan tombol ’Queue’ </a:t>
            </a:r>
            <a:r>
              <a:rPr lang="en" sz="1300">
                <a:latin typeface="Lexend"/>
                <a:ea typeface="Lexend"/>
                <a:cs typeface="Lexend"/>
                <a:sym typeface="Lexend"/>
              </a:rPr>
              <a:t>pada Homepage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" sz="13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Nomor antrian </a:t>
            </a:r>
            <a:r>
              <a:rPr lang="en" sz="1300">
                <a:latin typeface="Lexend"/>
                <a:ea typeface="Lexend"/>
                <a:cs typeface="Lexend"/>
                <a:sym typeface="Lexend"/>
              </a:rPr>
              <a:t>yang sedang berlangsung </a:t>
            </a:r>
            <a:r>
              <a:rPr lang="en" sz="13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akan terpampang</a:t>
            </a:r>
            <a:endParaRPr sz="1300">
              <a:solidFill>
                <a:srgbClr val="CC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21"/>
          <p:cNvSpPr txBox="1"/>
          <p:nvPr/>
        </p:nvSpPr>
        <p:spPr>
          <a:xfrm>
            <a:off x="4086185" y="839290"/>
            <a:ext cx="103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Aims</a:t>
            </a:r>
            <a:endParaRPr b="1"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21"/>
          <p:cNvSpPr txBox="1"/>
          <p:nvPr/>
        </p:nvSpPr>
        <p:spPr>
          <a:xfrm>
            <a:off x="4965078" y="434226"/>
            <a:ext cx="189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Comfee Order</a:t>
            </a:r>
            <a:endParaRPr b="1" sz="15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4" name="Google Shape;474;p21"/>
          <p:cNvSpPr txBox="1"/>
          <p:nvPr/>
        </p:nvSpPr>
        <p:spPr>
          <a:xfrm>
            <a:off x="4644875" y="1184215"/>
            <a:ext cx="203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Comfee Order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ditargetkan untuk </a:t>
            </a:r>
            <a:r>
              <a:rPr lang="en" sz="12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mengurangi antrian kafe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75" name="Google Shape;475;p21"/>
          <p:cNvSpPr txBox="1"/>
          <p:nvPr/>
        </p:nvSpPr>
        <p:spPr>
          <a:xfrm>
            <a:off x="3622985" y="1938177"/>
            <a:ext cx="209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Features Description</a:t>
            </a:r>
            <a:endParaRPr b="1"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2"/>
          <p:cNvSpPr/>
          <p:nvPr/>
        </p:nvSpPr>
        <p:spPr>
          <a:xfrm>
            <a:off x="150" y="-30075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2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CoPromo! : Comfee’s Exclusive</a:t>
            </a:r>
            <a:r>
              <a:rPr b="1"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Vouchers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22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3" name="Google Shape;483;p22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484" name="Google Shape;484;p22" title="Logo Putih COMPFES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22" title="Logo CF1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6" name="Google Shape;486;p22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2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2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2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2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2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2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2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4" name="Google Shape;494;p22"/>
          <p:cNvSpPr txBox="1"/>
          <p:nvPr/>
        </p:nvSpPr>
        <p:spPr>
          <a:xfrm>
            <a:off x="17902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5" name="Google Shape;495;p22"/>
          <p:cNvSpPr txBox="1"/>
          <p:nvPr/>
        </p:nvSpPr>
        <p:spPr>
          <a:xfrm>
            <a:off x="358515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22"/>
          <p:cNvSpPr txBox="1"/>
          <p:nvPr/>
        </p:nvSpPr>
        <p:spPr>
          <a:xfrm>
            <a:off x="53795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7" name="Google Shape;497;p22"/>
          <p:cNvSpPr txBox="1"/>
          <p:nvPr/>
        </p:nvSpPr>
        <p:spPr>
          <a:xfrm>
            <a:off x="716387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98" name="Google Shape;498;p22" title="2__1_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9387" y="229320"/>
            <a:ext cx="2637875" cy="4684855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2"/>
          <p:cNvSpPr/>
          <p:nvPr/>
        </p:nvSpPr>
        <p:spPr>
          <a:xfrm>
            <a:off x="517662" y="1700963"/>
            <a:ext cx="1595400" cy="300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2"/>
          <p:cNvSpPr/>
          <p:nvPr/>
        </p:nvSpPr>
        <p:spPr>
          <a:xfrm>
            <a:off x="439483" y="3261100"/>
            <a:ext cx="1660500" cy="995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2"/>
          <p:cNvSpPr/>
          <p:nvPr/>
        </p:nvSpPr>
        <p:spPr>
          <a:xfrm>
            <a:off x="2564833" y="1026042"/>
            <a:ext cx="6078000" cy="26178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2"/>
          <p:cNvSpPr/>
          <p:nvPr/>
        </p:nvSpPr>
        <p:spPr>
          <a:xfrm>
            <a:off x="2564833" y="1366166"/>
            <a:ext cx="6078000" cy="738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2"/>
          <p:cNvSpPr/>
          <p:nvPr/>
        </p:nvSpPr>
        <p:spPr>
          <a:xfrm>
            <a:off x="2564833" y="2483742"/>
            <a:ext cx="3046500" cy="19431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2"/>
          <p:cNvSpPr/>
          <p:nvPr/>
        </p:nvSpPr>
        <p:spPr>
          <a:xfrm>
            <a:off x="5596435" y="2483742"/>
            <a:ext cx="3046500" cy="19431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2"/>
          <p:cNvSpPr txBox="1"/>
          <p:nvPr/>
        </p:nvSpPr>
        <p:spPr>
          <a:xfrm>
            <a:off x="2355431" y="2764630"/>
            <a:ext cx="3279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Marketing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harga (promo, diskon, dan paket bundle) dapat dibentuk secara langsung oleh Mas Fes atau dari saran AI Assistant.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Dibentuk berdasarkan tren pembelian di KopiCompfest atau tren sosial.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6" name="Google Shape;506;p22"/>
          <p:cNvSpPr txBox="1"/>
          <p:nvPr/>
        </p:nvSpPr>
        <p:spPr>
          <a:xfrm>
            <a:off x="5018694" y="993719"/>
            <a:ext cx="103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Aims</a:t>
            </a:r>
            <a:endParaRPr b="1"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7" name="Google Shape;507;p22"/>
          <p:cNvSpPr txBox="1"/>
          <p:nvPr/>
        </p:nvSpPr>
        <p:spPr>
          <a:xfrm>
            <a:off x="4555494" y="2124008"/>
            <a:ext cx="209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Features Description</a:t>
            </a:r>
            <a:endParaRPr b="1"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22"/>
          <p:cNvSpPr txBox="1"/>
          <p:nvPr/>
        </p:nvSpPr>
        <p:spPr>
          <a:xfrm>
            <a:off x="2518496" y="1347208"/>
            <a:ext cx="6170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Fitur ‘</a:t>
            </a:r>
            <a:r>
              <a:rPr b="1"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CoPromo!’ </a:t>
            </a:r>
            <a:r>
              <a:rPr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ditargetkan untuk </a:t>
            </a:r>
            <a:r>
              <a:rPr lang="en" sz="13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meningkatkan pertumbuhan bisnis </a:t>
            </a:r>
            <a:r>
              <a:rPr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KopiCompfest dengan </a:t>
            </a:r>
            <a:r>
              <a:rPr lang="en" sz="13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memperkuat loyalitas</a:t>
            </a:r>
            <a:r>
              <a:rPr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dan </a:t>
            </a:r>
            <a:r>
              <a:rPr lang="en" sz="13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frekuensi pembelian</a:t>
            </a:r>
            <a:r>
              <a:rPr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 oleh pelanggan.</a:t>
            </a:r>
            <a:endParaRPr b="1"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22"/>
          <p:cNvSpPr txBox="1"/>
          <p:nvPr/>
        </p:nvSpPr>
        <p:spPr>
          <a:xfrm>
            <a:off x="2976708" y="2454969"/>
            <a:ext cx="203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Promotion Making</a:t>
            </a:r>
            <a:endParaRPr b="1" sz="11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22"/>
          <p:cNvSpPr txBox="1"/>
          <p:nvPr/>
        </p:nvSpPr>
        <p:spPr>
          <a:xfrm>
            <a:off x="5549033" y="2483742"/>
            <a:ext cx="314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Promotion Name and </a:t>
            </a:r>
            <a:r>
              <a:rPr b="1" lang="en" sz="12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Descriptions</a:t>
            </a:r>
            <a:endParaRPr b="1" sz="12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1" name="Google Shape;511;p22"/>
          <p:cNvSpPr txBox="1"/>
          <p:nvPr/>
        </p:nvSpPr>
        <p:spPr>
          <a:xfrm>
            <a:off x="5386126" y="2785019"/>
            <a:ext cx="3477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Nama dan deskripsi dapat dibentuk dari saran AI Assistant.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Setiap promo memiliki kadaluarsa guna memberikan dorongan bagi pelanggan untuk segera menggunakannya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22"/>
          <p:cNvSpPr txBox="1"/>
          <p:nvPr/>
        </p:nvSpPr>
        <p:spPr>
          <a:xfrm>
            <a:off x="4960049" y="493038"/>
            <a:ext cx="128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CoPromo!</a:t>
            </a:r>
            <a:endParaRPr b="1" sz="15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23" title="1-removebg-preview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5" y="255962"/>
            <a:ext cx="2649900" cy="47062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18" name="Google Shape;518;p23"/>
          <p:cNvSpPr/>
          <p:nvPr/>
        </p:nvSpPr>
        <p:spPr>
          <a:xfrm>
            <a:off x="150" y="-30075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3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‘KoFest Owner’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1" name="Google Shape;521;p23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522" name="Google Shape;522;p23" title="Logo Putih COMPFEST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" name="Google Shape;523;p23" title="Logo CF17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4" name="Google Shape;524;p23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3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3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3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3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3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3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23"/>
          <p:cNvSpPr txBox="1"/>
          <p:nvPr/>
        </p:nvSpPr>
        <p:spPr>
          <a:xfrm>
            <a:off x="17902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2" name="Google Shape;532;p23"/>
          <p:cNvSpPr txBox="1"/>
          <p:nvPr/>
        </p:nvSpPr>
        <p:spPr>
          <a:xfrm>
            <a:off x="358515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3" name="Google Shape;533;p23"/>
          <p:cNvSpPr txBox="1"/>
          <p:nvPr/>
        </p:nvSpPr>
        <p:spPr>
          <a:xfrm>
            <a:off x="53795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4" name="Google Shape;534;p23"/>
          <p:cNvSpPr txBox="1"/>
          <p:nvPr/>
        </p:nvSpPr>
        <p:spPr>
          <a:xfrm>
            <a:off x="716387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23"/>
          <p:cNvSpPr/>
          <p:nvPr/>
        </p:nvSpPr>
        <p:spPr>
          <a:xfrm>
            <a:off x="2547422" y="2215024"/>
            <a:ext cx="1983300" cy="78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3"/>
          <p:cNvSpPr/>
          <p:nvPr/>
        </p:nvSpPr>
        <p:spPr>
          <a:xfrm>
            <a:off x="4651741" y="2215024"/>
            <a:ext cx="1983300" cy="78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3"/>
          <p:cNvSpPr/>
          <p:nvPr/>
        </p:nvSpPr>
        <p:spPr>
          <a:xfrm>
            <a:off x="6756059" y="2215024"/>
            <a:ext cx="1983300" cy="78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3"/>
          <p:cNvSpPr/>
          <p:nvPr/>
        </p:nvSpPr>
        <p:spPr>
          <a:xfrm>
            <a:off x="2537650" y="3112110"/>
            <a:ext cx="1272300" cy="1404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00" lIns="87900" spcFirstLastPara="1" rIns="87900" wrap="square" tIns="87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5"/>
          </a:p>
        </p:txBody>
      </p:sp>
      <p:sp>
        <p:nvSpPr>
          <p:cNvPr id="539" name="Google Shape;539;p23"/>
          <p:cNvSpPr/>
          <p:nvPr/>
        </p:nvSpPr>
        <p:spPr>
          <a:xfrm>
            <a:off x="5243656" y="3101425"/>
            <a:ext cx="1272300" cy="1404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00" lIns="87900" spcFirstLastPara="1" rIns="87900" wrap="square" tIns="87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5"/>
          </a:p>
        </p:txBody>
      </p:sp>
      <p:sp>
        <p:nvSpPr>
          <p:cNvPr id="540" name="Google Shape;540;p23"/>
          <p:cNvSpPr/>
          <p:nvPr/>
        </p:nvSpPr>
        <p:spPr>
          <a:xfrm rot="5400000">
            <a:off x="4161063" y="2924167"/>
            <a:ext cx="414000" cy="1116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00" lIns="87900" spcFirstLastPara="1" rIns="87900" wrap="square" tIns="87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5"/>
          </a:p>
        </p:txBody>
      </p:sp>
      <p:sp>
        <p:nvSpPr>
          <p:cNvPr id="541" name="Google Shape;541;p23"/>
          <p:cNvSpPr/>
          <p:nvPr/>
        </p:nvSpPr>
        <p:spPr>
          <a:xfrm>
            <a:off x="2527875" y="873400"/>
            <a:ext cx="6209400" cy="8310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3"/>
          <p:cNvSpPr txBox="1"/>
          <p:nvPr/>
        </p:nvSpPr>
        <p:spPr>
          <a:xfrm>
            <a:off x="4766750" y="1699150"/>
            <a:ext cx="17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Fitur KoFest Owner</a:t>
            </a:r>
            <a:endParaRPr b="1" sz="12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3" name="Google Shape;543;p23"/>
          <p:cNvSpPr txBox="1"/>
          <p:nvPr/>
        </p:nvSpPr>
        <p:spPr>
          <a:xfrm>
            <a:off x="2556062" y="897242"/>
            <a:ext cx="6170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Aplikasi </a:t>
            </a:r>
            <a:r>
              <a:rPr b="1"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KoFest Owner</a:t>
            </a:r>
            <a:r>
              <a:rPr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dirancang untuk </a:t>
            </a:r>
            <a:r>
              <a:rPr lang="en" sz="13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memudahkan mas Fes dalam mengelola bisnis KopiCompfest</a:t>
            </a:r>
            <a:r>
              <a:rPr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seperti regulasi keuangan, strategi marketing, serta regulasi operasional dengan bantuan </a:t>
            </a:r>
            <a:r>
              <a:rPr i="1" lang="en" sz="13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AI assistant.</a:t>
            </a:r>
            <a:endParaRPr i="1"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4" name="Google Shape;544;p23"/>
          <p:cNvSpPr/>
          <p:nvPr/>
        </p:nvSpPr>
        <p:spPr>
          <a:xfrm>
            <a:off x="5145642" y="574366"/>
            <a:ext cx="991500" cy="3009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3"/>
          <p:cNvSpPr/>
          <p:nvPr/>
        </p:nvSpPr>
        <p:spPr>
          <a:xfrm rot="-5400000">
            <a:off x="4481352" y="3556093"/>
            <a:ext cx="414000" cy="1116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00" lIns="87900" spcFirstLastPara="1" rIns="87900" wrap="square" tIns="87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5"/>
          </a:p>
        </p:txBody>
      </p:sp>
      <p:sp>
        <p:nvSpPr>
          <p:cNvPr id="546" name="Google Shape;546;p23"/>
          <p:cNvSpPr txBox="1"/>
          <p:nvPr/>
        </p:nvSpPr>
        <p:spPr>
          <a:xfrm>
            <a:off x="5202350" y="540165"/>
            <a:ext cx="87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Goals</a:t>
            </a:r>
            <a:endParaRPr b="1" sz="12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23"/>
          <p:cNvSpPr/>
          <p:nvPr/>
        </p:nvSpPr>
        <p:spPr>
          <a:xfrm>
            <a:off x="2545425" y="2038324"/>
            <a:ext cx="1983300" cy="66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3"/>
          <p:cNvSpPr/>
          <p:nvPr/>
        </p:nvSpPr>
        <p:spPr>
          <a:xfrm>
            <a:off x="4649775" y="2055037"/>
            <a:ext cx="1983300" cy="66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3"/>
          <p:cNvSpPr/>
          <p:nvPr/>
        </p:nvSpPr>
        <p:spPr>
          <a:xfrm>
            <a:off x="6754050" y="2055267"/>
            <a:ext cx="1983300" cy="66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3"/>
          <p:cNvSpPr txBox="1"/>
          <p:nvPr/>
        </p:nvSpPr>
        <p:spPr>
          <a:xfrm>
            <a:off x="2908113" y="2664775"/>
            <a:ext cx="126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Transfer</a:t>
            </a:r>
            <a:endParaRPr b="1" sz="12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23"/>
          <p:cNvSpPr txBox="1"/>
          <p:nvPr/>
        </p:nvSpPr>
        <p:spPr>
          <a:xfrm>
            <a:off x="5032775" y="2664788"/>
            <a:ext cx="126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Notes</a:t>
            </a:r>
            <a:endParaRPr b="1" sz="12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2" name="Google Shape;552;p23"/>
          <p:cNvSpPr txBox="1"/>
          <p:nvPr/>
        </p:nvSpPr>
        <p:spPr>
          <a:xfrm>
            <a:off x="7124500" y="2664788"/>
            <a:ext cx="126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Insights</a:t>
            </a:r>
            <a:endParaRPr b="1" sz="12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3" name="Google Shape;553;p23"/>
          <p:cNvSpPr txBox="1"/>
          <p:nvPr/>
        </p:nvSpPr>
        <p:spPr>
          <a:xfrm>
            <a:off x="2545492" y="2125883"/>
            <a:ext cx="198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ransfer biaya </a:t>
            </a:r>
            <a:r>
              <a:rPr lang="en" sz="11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di luar </a:t>
            </a: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biaya operasional utama</a:t>
            </a:r>
            <a:endParaRPr sz="11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23"/>
          <p:cNvSpPr txBox="1"/>
          <p:nvPr/>
        </p:nvSpPr>
        <p:spPr>
          <a:xfrm>
            <a:off x="4649763" y="2127083"/>
            <a:ext cx="198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Mencatat hal penting yang bersifat </a:t>
            </a:r>
            <a:r>
              <a:rPr lang="en" sz="11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darurat</a:t>
            </a:r>
            <a:endParaRPr sz="1100">
              <a:solidFill>
                <a:srgbClr val="CC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5" name="Google Shape;555;p23"/>
          <p:cNvSpPr txBox="1"/>
          <p:nvPr/>
        </p:nvSpPr>
        <p:spPr>
          <a:xfrm>
            <a:off x="6754088" y="2127083"/>
            <a:ext cx="198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Menerima </a:t>
            </a:r>
            <a:r>
              <a:rPr lang="en" sz="11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masukan atau komplain</a:t>
            </a: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dari pelanggan</a:t>
            </a:r>
            <a:endParaRPr sz="11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6" name="Google Shape;556;p23"/>
          <p:cNvSpPr/>
          <p:nvPr/>
        </p:nvSpPr>
        <p:spPr>
          <a:xfrm flipH="1">
            <a:off x="6633072" y="3098525"/>
            <a:ext cx="1280400" cy="1404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00" lIns="87900" spcFirstLastPara="1" rIns="87900" wrap="square" tIns="87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5"/>
          </a:p>
        </p:txBody>
      </p:sp>
      <p:sp>
        <p:nvSpPr>
          <p:cNvPr id="557" name="Google Shape;557;p23"/>
          <p:cNvSpPr/>
          <p:nvPr/>
        </p:nvSpPr>
        <p:spPr>
          <a:xfrm flipH="1" rot="5400000">
            <a:off x="8268374" y="3197843"/>
            <a:ext cx="414000" cy="11238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00" lIns="87900" spcFirstLastPara="1" rIns="87900" wrap="square" tIns="87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5"/>
          </a:p>
        </p:txBody>
      </p:sp>
      <p:sp>
        <p:nvSpPr>
          <p:cNvPr id="558" name="Google Shape;558;p23"/>
          <p:cNvSpPr txBox="1"/>
          <p:nvPr/>
        </p:nvSpPr>
        <p:spPr>
          <a:xfrm>
            <a:off x="3684738" y="3270563"/>
            <a:ext cx="126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GrowCo</a:t>
            </a:r>
            <a:endParaRPr b="1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23"/>
          <p:cNvSpPr txBox="1"/>
          <p:nvPr/>
        </p:nvSpPr>
        <p:spPr>
          <a:xfrm>
            <a:off x="4054588" y="3930563"/>
            <a:ext cx="126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CoFinance</a:t>
            </a:r>
            <a:endParaRPr b="1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23"/>
          <p:cNvSpPr txBox="1"/>
          <p:nvPr/>
        </p:nvSpPr>
        <p:spPr>
          <a:xfrm>
            <a:off x="7769763" y="3559638"/>
            <a:ext cx="126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CoSupply</a:t>
            </a:r>
            <a:endParaRPr b="1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23"/>
          <p:cNvSpPr txBox="1"/>
          <p:nvPr/>
        </p:nvSpPr>
        <p:spPr>
          <a:xfrm>
            <a:off x="2545422" y="3193300"/>
            <a:ext cx="1264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Memberikan strategi </a:t>
            </a: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marketing, kolaborasi, dsb </a:t>
            </a:r>
            <a:r>
              <a:rPr lang="en" sz="11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dengan bantuan AI</a:t>
            </a:r>
            <a:endParaRPr sz="11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23"/>
          <p:cNvSpPr txBox="1"/>
          <p:nvPr/>
        </p:nvSpPr>
        <p:spPr>
          <a:xfrm>
            <a:off x="5229460" y="3193736"/>
            <a:ext cx="1264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Menampilkan riwayat transaksi</a:t>
            </a: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yang telah terjadi seputar KopiCompfest</a:t>
            </a:r>
            <a:endParaRPr sz="11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23"/>
          <p:cNvSpPr txBox="1"/>
          <p:nvPr/>
        </p:nvSpPr>
        <p:spPr>
          <a:xfrm>
            <a:off x="6641035" y="3137928"/>
            <a:ext cx="12645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Rekapan jumlah stok item tersedia </a:t>
            </a: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sebelum dan setelah setiap pembelian oleh customer</a:t>
            </a:r>
            <a:endParaRPr sz="11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4"/>
          <p:cNvSpPr/>
          <p:nvPr/>
        </p:nvSpPr>
        <p:spPr>
          <a:xfrm>
            <a:off x="150" y="-30075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4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Kofest Owner’s Growth Strategy : Marketing and AI Assistant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24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1" name="Google Shape;571;p24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572" name="Google Shape;572;p24" title="Logo Putih COMPFES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3" name="Google Shape;573;p24" title="Logo CF1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4" name="Google Shape;574;p24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4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4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4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4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4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4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4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2" name="Google Shape;582;p24"/>
          <p:cNvSpPr txBox="1"/>
          <p:nvPr/>
        </p:nvSpPr>
        <p:spPr>
          <a:xfrm>
            <a:off x="17902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3" name="Google Shape;583;p24"/>
          <p:cNvSpPr txBox="1"/>
          <p:nvPr/>
        </p:nvSpPr>
        <p:spPr>
          <a:xfrm>
            <a:off x="358515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4" name="Google Shape;584;p24"/>
          <p:cNvSpPr txBox="1"/>
          <p:nvPr/>
        </p:nvSpPr>
        <p:spPr>
          <a:xfrm>
            <a:off x="53795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5" name="Google Shape;585;p24"/>
          <p:cNvSpPr txBox="1"/>
          <p:nvPr/>
        </p:nvSpPr>
        <p:spPr>
          <a:xfrm>
            <a:off x="716387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6" name="Google Shape;586;p24" title="3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77905" y="218632"/>
            <a:ext cx="2649900" cy="4706242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4"/>
          <p:cNvSpPr/>
          <p:nvPr/>
        </p:nvSpPr>
        <p:spPr>
          <a:xfrm>
            <a:off x="409713" y="1744975"/>
            <a:ext cx="1676100" cy="372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4"/>
          <p:cNvSpPr/>
          <p:nvPr/>
        </p:nvSpPr>
        <p:spPr>
          <a:xfrm>
            <a:off x="409788" y="3320208"/>
            <a:ext cx="1676100" cy="372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4"/>
          <p:cNvSpPr/>
          <p:nvPr/>
        </p:nvSpPr>
        <p:spPr>
          <a:xfrm>
            <a:off x="409788" y="2157975"/>
            <a:ext cx="1676100" cy="106050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4"/>
          <p:cNvSpPr/>
          <p:nvPr/>
        </p:nvSpPr>
        <p:spPr>
          <a:xfrm>
            <a:off x="2412493" y="839310"/>
            <a:ext cx="6362400" cy="26178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4"/>
          <p:cNvSpPr/>
          <p:nvPr/>
        </p:nvSpPr>
        <p:spPr>
          <a:xfrm>
            <a:off x="2412500" y="2028700"/>
            <a:ext cx="2159400" cy="261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4"/>
          <p:cNvSpPr/>
          <p:nvPr/>
        </p:nvSpPr>
        <p:spPr>
          <a:xfrm>
            <a:off x="2412375" y="1134143"/>
            <a:ext cx="6362400" cy="5655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4"/>
          <p:cNvSpPr/>
          <p:nvPr/>
        </p:nvSpPr>
        <p:spPr>
          <a:xfrm>
            <a:off x="4567475" y="2029700"/>
            <a:ext cx="1529100" cy="261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4"/>
          <p:cNvSpPr txBox="1"/>
          <p:nvPr/>
        </p:nvSpPr>
        <p:spPr>
          <a:xfrm>
            <a:off x="2647629" y="2037075"/>
            <a:ext cx="167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Progression</a:t>
            </a:r>
            <a:r>
              <a:rPr lang="en" sz="13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3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p24"/>
          <p:cNvSpPr txBox="1"/>
          <p:nvPr/>
        </p:nvSpPr>
        <p:spPr>
          <a:xfrm>
            <a:off x="5020043" y="804022"/>
            <a:ext cx="12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Aims</a:t>
            </a:r>
            <a:endParaRPr b="1" sz="17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6" name="Google Shape;596;p24"/>
          <p:cNvSpPr txBox="1"/>
          <p:nvPr/>
        </p:nvSpPr>
        <p:spPr>
          <a:xfrm>
            <a:off x="5086944" y="412594"/>
            <a:ext cx="2226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GrowCo</a:t>
            </a:r>
            <a:endParaRPr b="1" sz="15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7" name="Google Shape;597;p24"/>
          <p:cNvSpPr txBox="1"/>
          <p:nvPr/>
        </p:nvSpPr>
        <p:spPr>
          <a:xfrm>
            <a:off x="2449615" y="1118824"/>
            <a:ext cx="628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Fitur </a:t>
            </a:r>
            <a:r>
              <a:rPr b="1" lang="en" sz="13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GrowCo</a:t>
            </a:r>
            <a:r>
              <a:rPr lang="en" sz="13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ditargetkan untuk </a:t>
            </a:r>
            <a:r>
              <a:rPr lang="en" sz="13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memberikan pertumbuhan bisnis</a:t>
            </a:r>
            <a:r>
              <a:rPr lang="en" sz="13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KopiCompfest melalui </a:t>
            </a:r>
            <a:r>
              <a:rPr lang="en" sz="13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track efisiensi advertisement</a:t>
            </a:r>
            <a:r>
              <a:rPr lang="en" sz="13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serta </a:t>
            </a:r>
            <a:r>
              <a:rPr lang="en" sz="13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bantuan AI</a:t>
            </a:r>
            <a:endParaRPr sz="1300" u="sng">
              <a:solidFill>
                <a:schemeClr val="dk2"/>
              </a:solidFill>
            </a:endParaRPr>
          </a:p>
        </p:txBody>
      </p:sp>
      <p:sp>
        <p:nvSpPr>
          <p:cNvPr id="598" name="Google Shape;598;p24"/>
          <p:cNvSpPr txBox="1"/>
          <p:nvPr/>
        </p:nvSpPr>
        <p:spPr>
          <a:xfrm>
            <a:off x="4779373" y="1682693"/>
            <a:ext cx="195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Features Description</a:t>
            </a:r>
            <a:endParaRPr b="1" sz="12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9" name="Google Shape;599;p24"/>
          <p:cNvSpPr/>
          <p:nvPr/>
        </p:nvSpPr>
        <p:spPr>
          <a:xfrm>
            <a:off x="6096575" y="2029700"/>
            <a:ext cx="2678700" cy="261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4"/>
          <p:cNvSpPr txBox="1"/>
          <p:nvPr/>
        </p:nvSpPr>
        <p:spPr>
          <a:xfrm>
            <a:off x="4909490" y="2037064"/>
            <a:ext cx="838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Preview</a:t>
            </a:r>
            <a:endParaRPr sz="1300" u="sng">
              <a:solidFill>
                <a:srgbClr val="38761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1" name="Google Shape;601;p24"/>
          <p:cNvSpPr txBox="1"/>
          <p:nvPr/>
        </p:nvSpPr>
        <p:spPr>
          <a:xfrm>
            <a:off x="6806586" y="2037064"/>
            <a:ext cx="1157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AI Assistant</a:t>
            </a:r>
            <a:endParaRPr sz="1300" u="sng">
              <a:solidFill>
                <a:srgbClr val="CC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2" name="Google Shape;602;p24"/>
          <p:cNvSpPr txBox="1"/>
          <p:nvPr/>
        </p:nvSpPr>
        <p:spPr>
          <a:xfrm>
            <a:off x="2292097" y="2347050"/>
            <a:ext cx="2328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Menampilkan </a:t>
            </a:r>
            <a:r>
              <a:rPr lang="en" sz="12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progres dan evaluasi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program iklan yang sedang berjalan.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Menampilkan l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ist strategi yang telah dibentuk oleh AI Assistant seperti </a:t>
            </a:r>
            <a:r>
              <a:rPr lang="en" sz="12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promo, diskon, dan kolaborasi brand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1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3" name="Google Shape;603;p24"/>
          <p:cNvSpPr txBox="1"/>
          <p:nvPr/>
        </p:nvSpPr>
        <p:spPr>
          <a:xfrm>
            <a:off x="4643009" y="2661170"/>
            <a:ext cx="1378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Deskripsi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di bawah tombol Progression dan AI Assistant adalah </a:t>
            </a:r>
            <a:r>
              <a:rPr lang="en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bentuk preview dari fitur.</a:t>
            </a:r>
            <a:endParaRPr sz="1100" u="sng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24"/>
          <p:cNvSpPr txBox="1"/>
          <p:nvPr/>
        </p:nvSpPr>
        <p:spPr>
          <a:xfrm>
            <a:off x="6003950" y="2347059"/>
            <a:ext cx="27711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Fitur berbentuk Chatbot.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Menganalisa tren pembelian yang terjadi.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Mengakses data rekapan pembelian produk. 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Memprediksi jumlah stok yang perlu di beli.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Mengevaluasi strategi yang sudah diaplikasikan.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"/>
              <a:buChar char="●"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Memberikan saran strategi marketing berdasarkan tren.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5"/>
          <p:cNvSpPr/>
          <p:nvPr/>
        </p:nvSpPr>
        <p:spPr>
          <a:xfrm>
            <a:off x="150" y="-30075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CoFinance : Transaction History and Payments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25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2" name="Google Shape;612;p25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613" name="Google Shape;613;p25" title="Logo Putih COMPFES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4" name="Google Shape;614;p25" title="Logo CF1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5" name="Google Shape;615;p25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5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5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5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5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5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5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5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25"/>
          <p:cNvSpPr txBox="1"/>
          <p:nvPr/>
        </p:nvSpPr>
        <p:spPr>
          <a:xfrm>
            <a:off x="17902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4" name="Google Shape;624;p25"/>
          <p:cNvSpPr txBox="1"/>
          <p:nvPr/>
        </p:nvSpPr>
        <p:spPr>
          <a:xfrm>
            <a:off x="358515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5" name="Google Shape;625;p25"/>
          <p:cNvSpPr txBox="1"/>
          <p:nvPr/>
        </p:nvSpPr>
        <p:spPr>
          <a:xfrm>
            <a:off x="53795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25"/>
          <p:cNvSpPr txBox="1"/>
          <p:nvPr/>
        </p:nvSpPr>
        <p:spPr>
          <a:xfrm>
            <a:off x="716387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7" name="Google Shape;627;p25" title="2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8639"/>
            <a:ext cx="2649900" cy="4706222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25"/>
          <p:cNvSpPr/>
          <p:nvPr/>
        </p:nvSpPr>
        <p:spPr>
          <a:xfrm>
            <a:off x="504291" y="1733359"/>
            <a:ext cx="1671300" cy="615900"/>
          </a:xfrm>
          <a:prstGeom prst="rect">
            <a:avLst/>
          </a:prstGeom>
          <a:noFill/>
          <a:ln cap="flat" cmpd="sng" w="20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700" lIns="96700" spcFirstLastPara="1" rIns="96700" wrap="square" tIns="9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0"/>
          </a:p>
        </p:txBody>
      </p:sp>
      <p:sp>
        <p:nvSpPr>
          <p:cNvPr id="629" name="Google Shape;629;p25"/>
          <p:cNvSpPr/>
          <p:nvPr/>
        </p:nvSpPr>
        <p:spPr>
          <a:xfrm>
            <a:off x="476671" y="2399130"/>
            <a:ext cx="1671300" cy="615900"/>
          </a:xfrm>
          <a:prstGeom prst="rect">
            <a:avLst/>
          </a:prstGeom>
          <a:noFill/>
          <a:ln cap="flat" cmpd="sng" w="20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700" lIns="96700" spcFirstLastPara="1" rIns="96700" wrap="square" tIns="9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0"/>
          </a:p>
        </p:txBody>
      </p:sp>
      <p:sp>
        <p:nvSpPr>
          <p:cNvPr id="630" name="Google Shape;630;p25"/>
          <p:cNvSpPr/>
          <p:nvPr/>
        </p:nvSpPr>
        <p:spPr>
          <a:xfrm>
            <a:off x="499902" y="3111364"/>
            <a:ext cx="1671300" cy="615900"/>
          </a:xfrm>
          <a:prstGeom prst="rect">
            <a:avLst/>
          </a:prstGeom>
          <a:noFill/>
          <a:ln cap="flat" cmpd="sng" w="20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700" lIns="96700" spcFirstLastPara="1" rIns="96700" wrap="square" tIns="9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0"/>
          </a:p>
        </p:txBody>
      </p:sp>
      <p:sp>
        <p:nvSpPr>
          <p:cNvPr id="631" name="Google Shape;631;p25"/>
          <p:cNvSpPr/>
          <p:nvPr/>
        </p:nvSpPr>
        <p:spPr>
          <a:xfrm>
            <a:off x="481060" y="3777135"/>
            <a:ext cx="1671300" cy="615900"/>
          </a:xfrm>
          <a:prstGeom prst="rect">
            <a:avLst/>
          </a:prstGeom>
          <a:noFill/>
          <a:ln cap="flat" cmpd="sng" w="20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700" lIns="96700" spcFirstLastPara="1" rIns="96700" wrap="square" tIns="9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0"/>
          </a:p>
        </p:txBody>
      </p:sp>
      <p:sp>
        <p:nvSpPr>
          <p:cNvPr id="632" name="Google Shape;632;p25"/>
          <p:cNvSpPr/>
          <p:nvPr/>
        </p:nvSpPr>
        <p:spPr>
          <a:xfrm>
            <a:off x="2541143" y="895162"/>
            <a:ext cx="6362400" cy="26178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5"/>
          <p:cNvSpPr/>
          <p:nvPr/>
        </p:nvSpPr>
        <p:spPr>
          <a:xfrm>
            <a:off x="2541150" y="2084552"/>
            <a:ext cx="3265200" cy="10092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5"/>
          <p:cNvSpPr/>
          <p:nvPr/>
        </p:nvSpPr>
        <p:spPr>
          <a:xfrm>
            <a:off x="2541025" y="1189995"/>
            <a:ext cx="6362400" cy="5655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5"/>
          <p:cNvSpPr/>
          <p:nvPr/>
        </p:nvSpPr>
        <p:spPr>
          <a:xfrm>
            <a:off x="5799450" y="2084940"/>
            <a:ext cx="3104100" cy="10092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5"/>
          <p:cNvSpPr txBox="1"/>
          <p:nvPr/>
        </p:nvSpPr>
        <p:spPr>
          <a:xfrm>
            <a:off x="5148693" y="859874"/>
            <a:ext cx="12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Aims</a:t>
            </a:r>
            <a:endParaRPr b="1" sz="17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25"/>
          <p:cNvSpPr txBox="1"/>
          <p:nvPr/>
        </p:nvSpPr>
        <p:spPr>
          <a:xfrm>
            <a:off x="2541025" y="1176142"/>
            <a:ext cx="6362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Fitur </a:t>
            </a:r>
            <a:r>
              <a:rPr b="1" lang="en" sz="13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‘CoFinance’</a:t>
            </a:r>
            <a:r>
              <a:rPr lang="en" sz="13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ditargetkan untuk </a:t>
            </a:r>
            <a:r>
              <a:rPr lang="en" sz="1300" u="sng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meningkatkan efisiensi serta struktur manajemen finansial</a:t>
            </a:r>
            <a:r>
              <a:rPr lang="en" sz="13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3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KopiCompfest.</a:t>
            </a:r>
            <a:endParaRPr sz="15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p25"/>
          <p:cNvSpPr txBox="1"/>
          <p:nvPr/>
        </p:nvSpPr>
        <p:spPr>
          <a:xfrm>
            <a:off x="4908023" y="1738545"/>
            <a:ext cx="195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Features Description</a:t>
            </a:r>
            <a:endParaRPr b="1" sz="12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25"/>
          <p:cNvSpPr txBox="1"/>
          <p:nvPr/>
        </p:nvSpPr>
        <p:spPr>
          <a:xfrm>
            <a:off x="4609044" y="468446"/>
            <a:ext cx="2226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CoFinance</a:t>
            </a:r>
            <a:endParaRPr b="1" sz="15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25"/>
          <p:cNvSpPr/>
          <p:nvPr/>
        </p:nvSpPr>
        <p:spPr>
          <a:xfrm>
            <a:off x="2541025" y="3098877"/>
            <a:ext cx="3265200" cy="13740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5"/>
          <p:cNvSpPr/>
          <p:nvPr/>
        </p:nvSpPr>
        <p:spPr>
          <a:xfrm>
            <a:off x="5799325" y="3099406"/>
            <a:ext cx="3104100" cy="13740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5"/>
          <p:cNvSpPr txBox="1"/>
          <p:nvPr/>
        </p:nvSpPr>
        <p:spPr>
          <a:xfrm>
            <a:off x="3109000" y="2084552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Customer Order History</a:t>
            </a:r>
            <a:endParaRPr b="1" sz="11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3" name="Google Shape;643;p25"/>
          <p:cNvSpPr txBox="1"/>
          <p:nvPr/>
        </p:nvSpPr>
        <p:spPr>
          <a:xfrm>
            <a:off x="6331650" y="2084552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Payment </a:t>
            </a:r>
            <a:r>
              <a:rPr b="1" lang="en" sz="11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History : Cashier</a:t>
            </a:r>
            <a:endParaRPr b="1" sz="11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25"/>
          <p:cNvSpPr txBox="1"/>
          <p:nvPr/>
        </p:nvSpPr>
        <p:spPr>
          <a:xfrm>
            <a:off x="2541154" y="3104627"/>
            <a:ext cx="326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Payment </a:t>
            </a:r>
            <a:r>
              <a:rPr b="1" lang="en" sz="11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History : Self-service</a:t>
            </a:r>
            <a:endParaRPr b="1" sz="11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5" name="Google Shape;645;p25"/>
          <p:cNvSpPr txBox="1"/>
          <p:nvPr/>
        </p:nvSpPr>
        <p:spPr>
          <a:xfrm>
            <a:off x="6711173" y="3125177"/>
            <a:ext cx="128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Auto Payment</a:t>
            </a:r>
            <a:endParaRPr b="1" sz="11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6" name="Google Shape;646;p25"/>
          <p:cNvSpPr txBox="1"/>
          <p:nvPr/>
        </p:nvSpPr>
        <p:spPr>
          <a:xfrm>
            <a:off x="2608487" y="2334472"/>
            <a:ext cx="314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erfungsi untuk menampilkan </a:t>
            </a:r>
            <a:r>
              <a:rPr lang="en" sz="12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rekapan transaksi 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yang dilakukan oleh pelanggan melalui </a:t>
            </a:r>
            <a:r>
              <a:rPr lang="en" sz="12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aplikasi ‘Comfee’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25"/>
          <p:cNvSpPr txBox="1"/>
          <p:nvPr/>
        </p:nvSpPr>
        <p:spPr>
          <a:xfrm>
            <a:off x="6047131" y="2324119"/>
            <a:ext cx="264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Berfungsi untuk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menampilkan rekapan transaksi yang terjadi di kasir KopiCompfest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25"/>
          <p:cNvSpPr txBox="1"/>
          <p:nvPr/>
        </p:nvSpPr>
        <p:spPr>
          <a:xfrm>
            <a:off x="2615353" y="3520928"/>
            <a:ext cx="314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Berfungsi untuk menampilkan </a:t>
            </a:r>
            <a:r>
              <a:rPr lang="en" sz="12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rekapan transaksi 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yang terjadi dalam </a:t>
            </a:r>
            <a:r>
              <a:rPr lang="en" sz="12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tablet POS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(Point of Sales) KopiCompfest.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25"/>
          <p:cNvSpPr txBox="1"/>
          <p:nvPr/>
        </p:nvSpPr>
        <p:spPr>
          <a:xfrm>
            <a:off x="5982750" y="3417960"/>
            <a:ext cx="2920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Berfungsi untuk </a:t>
            </a:r>
            <a:r>
              <a:rPr lang="en" sz="12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melakukan pembayaran otomatis 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dari rekening KopiCompfest ke rekening </a:t>
            </a:r>
            <a:r>
              <a:rPr lang="en" sz="12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supplier, barista, dan pemilik sewa tempat</a:t>
            </a:r>
            <a:endParaRPr sz="1200">
              <a:solidFill>
                <a:srgbClr val="CC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6"/>
          <p:cNvSpPr/>
          <p:nvPr/>
        </p:nvSpPr>
        <p:spPr>
          <a:xfrm>
            <a:off x="150" y="-30075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6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CoSupply</a:t>
            </a: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: Supply Chain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26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7" name="Google Shape;657;p26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658" name="Google Shape;658;p26" title="Logo Putih COMPFES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9" name="Google Shape;659;p26" title="Logo CF1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0" name="Google Shape;660;p26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6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6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8" name="Google Shape;668;p26"/>
          <p:cNvSpPr txBox="1"/>
          <p:nvPr/>
        </p:nvSpPr>
        <p:spPr>
          <a:xfrm>
            <a:off x="17902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26"/>
          <p:cNvSpPr txBox="1"/>
          <p:nvPr/>
        </p:nvSpPr>
        <p:spPr>
          <a:xfrm>
            <a:off x="358515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26"/>
          <p:cNvSpPr txBox="1"/>
          <p:nvPr/>
        </p:nvSpPr>
        <p:spPr>
          <a:xfrm>
            <a:off x="53795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26"/>
          <p:cNvSpPr txBox="1"/>
          <p:nvPr/>
        </p:nvSpPr>
        <p:spPr>
          <a:xfrm>
            <a:off x="716387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2" name="Google Shape;672;p26" title="4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8687"/>
            <a:ext cx="2649900" cy="4706121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26"/>
          <p:cNvSpPr/>
          <p:nvPr/>
        </p:nvSpPr>
        <p:spPr>
          <a:xfrm>
            <a:off x="505675" y="1770850"/>
            <a:ext cx="1633800" cy="1309800"/>
          </a:xfrm>
          <a:prstGeom prst="rect">
            <a:avLst/>
          </a:prstGeom>
          <a:noFill/>
          <a:ln cap="flat" cmpd="sng" w="19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500" lIns="94500" spcFirstLastPara="1" rIns="94500" wrap="square" tIns="9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7"/>
          </a:p>
        </p:txBody>
      </p:sp>
      <p:sp>
        <p:nvSpPr>
          <p:cNvPr id="674" name="Google Shape;674;p26"/>
          <p:cNvSpPr/>
          <p:nvPr/>
        </p:nvSpPr>
        <p:spPr>
          <a:xfrm>
            <a:off x="516749" y="3121649"/>
            <a:ext cx="1633800" cy="1309800"/>
          </a:xfrm>
          <a:prstGeom prst="rect">
            <a:avLst/>
          </a:prstGeom>
          <a:noFill/>
          <a:ln cap="flat" cmpd="sng" w="19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500" lIns="94500" spcFirstLastPara="1" rIns="94500" wrap="square" tIns="9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7"/>
          </a:p>
        </p:txBody>
      </p:sp>
      <p:sp>
        <p:nvSpPr>
          <p:cNvPr id="675" name="Google Shape;675;p26"/>
          <p:cNvSpPr/>
          <p:nvPr/>
        </p:nvSpPr>
        <p:spPr>
          <a:xfrm>
            <a:off x="538900" y="1458400"/>
            <a:ext cx="682800" cy="239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6"/>
          <p:cNvSpPr/>
          <p:nvPr/>
        </p:nvSpPr>
        <p:spPr>
          <a:xfrm>
            <a:off x="1419225" y="1458400"/>
            <a:ext cx="682800" cy="239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6"/>
          <p:cNvSpPr/>
          <p:nvPr/>
        </p:nvSpPr>
        <p:spPr>
          <a:xfrm>
            <a:off x="2541143" y="785410"/>
            <a:ext cx="6362400" cy="26178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6"/>
          <p:cNvSpPr/>
          <p:nvPr/>
        </p:nvSpPr>
        <p:spPr>
          <a:xfrm>
            <a:off x="2541150" y="1974800"/>
            <a:ext cx="3265200" cy="126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6"/>
          <p:cNvSpPr/>
          <p:nvPr/>
        </p:nvSpPr>
        <p:spPr>
          <a:xfrm>
            <a:off x="2541025" y="1080243"/>
            <a:ext cx="6362400" cy="5655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6"/>
          <p:cNvSpPr/>
          <p:nvPr/>
        </p:nvSpPr>
        <p:spPr>
          <a:xfrm>
            <a:off x="5799449" y="1975288"/>
            <a:ext cx="3104100" cy="126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6"/>
          <p:cNvSpPr txBox="1"/>
          <p:nvPr/>
        </p:nvSpPr>
        <p:spPr>
          <a:xfrm>
            <a:off x="5148693" y="750122"/>
            <a:ext cx="122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Aims</a:t>
            </a:r>
            <a:endParaRPr b="1" sz="17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26"/>
          <p:cNvSpPr txBox="1"/>
          <p:nvPr/>
        </p:nvSpPr>
        <p:spPr>
          <a:xfrm>
            <a:off x="2541025" y="1097450"/>
            <a:ext cx="636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Fitur </a:t>
            </a:r>
            <a:r>
              <a:rPr b="1"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‘CoSupply’ 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diciptakan untuk</a:t>
            </a:r>
            <a:r>
              <a:rPr lang="en" sz="12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memantau stok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serta </a:t>
            </a:r>
            <a:r>
              <a:rPr lang="en" sz="12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otomatisasi pembayaran supplier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saat jumlah suatu produk telah mencapai batas minimum tertentu.</a:t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3" name="Google Shape;683;p26"/>
          <p:cNvSpPr txBox="1"/>
          <p:nvPr/>
        </p:nvSpPr>
        <p:spPr>
          <a:xfrm>
            <a:off x="4908023" y="1628793"/>
            <a:ext cx="195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Features Description</a:t>
            </a:r>
            <a:endParaRPr b="1" sz="12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4" name="Google Shape;684;p26"/>
          <p:cNvSpPr/>
          <p:nvPr/>
        </p:nvSpPr>
        <p:spPr>
          <a:xfrm>
            <a:off x="2541025" y="3241701"/>
            <a:ext cx="3265200" cy="126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6"/>
          <p:cNvSpPr/>
          <p:nvPr/>
        </p:nvSpPr>
        <p:spPr>
          <a:xfrm>
            <a:off x="5799324" y="3242189"/>
            <a:ext cx="3104100" cy="126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6"/>
          <p:cNvSpPr txBox="1"/>
          <p:nvPr/>
        </p:nvSpPr>
        <p:spPr>
          <a:xfrm>
            <a:off x="3109000" y="1974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Google Spreadsheet</a:t>
            </a:r>
            <a:endParaRPr b="1" sz="11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26"/>
          <p:cNvSpPr txBox="1"/>
          <p:nvPr/>
        </p:nvSpPr>
        <p:spPr>
          <a:xfrm>
            <a:off x="6331650" y="1974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Suppliers</a:t>
            </a:r>
            <a:endParaRPr b="1" sz="11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8" name="Google Shape;688;p26"/>
          <p:cNvSpPr txBox="1"/>
          <p:nvPr/>
        </p:nvSpPr>
        <p:spPr>
          <a:xfrm>
            <a:off x="2541154" y="3216400"/>
            <a:ext cx="326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Stock Availability</a:t>
            </a:r>
            <a:endParaRPr b="1" sz="11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26"/>
          <p:cNvSpPr txBox="1"/>
          <p:nvPr/>
        </p:nvSpPr>
        <p:spPr>
          <a:xfrm>
            <a:off x="6561300" y="3222950"/>
            <a:ext cx="158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Auto-order Recap</a:t>
            </a:r>
            <a:endParaRPr b="1" sz="11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0" name="Google Shape;690;p26"/>
          <p:cNvSpPr txBox="1"/>
          <p:nvPr/>
        </p:nvSpPr>
        <p:spPr>
          <a:xfrm>
            <a:off x="4609044" y="375519"/>
            <a:ext cx="2226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CoSupply</a:t>
            </a:r>
            <a:endParaRPr b="1" sz="1500"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1" name="Google Shape;691;p26"/>
          <p:cNvSpPr txBox="1"/>
          <p:nvPr/>
        </p:nvSpPr>
        <p:spPr>
          <a:xfrm>
            <a:off x="2612950" y="2238849"/>
            <a:ext cx="303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Menyimpan seluruh data operasional bisnis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KopiCompfest di dalam </a:t>
            </a:r>
            <a:r>
              <a:rPr lang="en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rekening KopiCompfest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dan </a:t>
            </a:r>
            <a:r>
              <a:rPr lang="en" sz="1200" u="sng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aplikasi KoFest Owner.</a:t>
            </a:r>
            <a:endParaRPr u="sng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2" name="Google Shape;692;p26"/>
          <p:cNvSpPr txBox="1"/>
          <p:nvPr/>
        </p:nvSpPr>
        <p:spPr>
          <a:xfrm>
            <a:off x="5835600" y="2238841"/>
            <a:ext cx="303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Menampilkan list supplier dan </a:t>
            </a:r>
            <a:r>
              <a:rPr lang="en" sz="12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pembelian stok dari masing-masing supplier 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yang telah dilakukan secara otomatis oleh sistem KoFest Owner.</a:t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26"/>
          <p:cNvSpPr txBox="1"/>
          <p:nvPr/>
        </p:nvSpPr>
        <p:spPr>
          <a:xfrm>
            <a:off x="2612950" y="3483900"/>
            <a:ext cx="303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Menampilkan</a:t>
            </a:r>
            <a:r>
              <a:rPr lang="en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jumlah stok yang tersedia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berdasarkan hasil pengurangan pembelian stok dengan penjualan produk.</a:t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26"/>
          <p:cNvSpPr txBox="1"/>
          <p:nvPr/>
        </p:nvSpPr>
        <p:spPr>
          <a:xfrm>
            <a:off x="5932200" y="3509513"/>
            <a:ext cx="2838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Tempat penyetelan pembayaran otomatis 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serta </a:t>
            </a:r>
            <a:r>
              <a:rPr lang="en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menyimpan total biaya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dari pemesanan bahan baku </a:t>
            </a:r>
            <a:r>
              <a:rPr lang="en" sz="1200" u="sng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per bulan. </a:t>
            </a:r>
            <a:endParaRPr u="sng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7"/>
          <p:cNvSpPr/>
          <p:nvPr/>
        </p:nvSpPr>
        <p:spPr>
          <a:xfrm>
            <a:off x="150" y="-30075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7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Strategy: Timeline Implementation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27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2" name="Google Shape;702;p27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703" name="Google Shape;703;p27" title="Logo Putih COMPFES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4" name="Google Shape;704;p27" title="Logo CF1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5" name="Google Shape;705;p27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7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7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7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7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7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7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7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27"/>
          <p:cNvSpPr txBox="1"/>
          <p:nvPr/>
        </p:nvSpPr>
        <p:spPr>
          <a:xfrm>
            <a:off x="17902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4" name="Google Shape;714;p27"/>
          <p:cNvSpPr txBox="1"/>
          <p:nvPr/>
        </p:nvSpPr>
        <p:spPr>
          <a:xfrm>
            <a:off x="358515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27"/>
          <p:cNvSpPr txBox="1"/>
          <p:nvPr/>
        </p:nvSpPr>
        <p:spPr>
          <a:xfrm>
            <a:off x="53795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6" name="Google Shape;716;p27"/>
          <p:cNvSpPr txBox="1"/>
          <p:nvPr/>
        </p:nvSpPr>
        <p:spPr>
          <a:xfrm>
            <a:off x="716387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17" name="Google Shape;717;p27"/>
          <p:cNvGraphicFramePr/>
          <p:nvPr/>
        </p:nvGraphicFramePr>
        <p:xfrm>
          <a:off x="2256575" y="799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{E128A648-2720-41D5-81E8-A631E90C5FAF}</a:tableStyleId>
              </a:tblPr>
              <a:tblGrid>
                <a:gridCol w="2204800"/>
                <a:gridCol w="617600"/>
                <a:gridCol w="644550"/>
                <a:gridCol w="605375"/>
                <a:gridCol w="624500"/>
              </a:tblGrid>
              <a:tr h="298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TIMELINE</a:t>
                      </a:r>
                      <a:endParaRPr b="1" sz="15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91D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Q1</a:t>
                      </a:r>
                      <a:endParaRPr b="1" sz="15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91D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Q2</a:t>
                      </a:r>
                      <a:endParaRPr b="1" sz="15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91D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Q3</a:t>
                      </a:r>
                      <a:endParaRPr b="1" sz="15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91D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Q4</a:t>
                      </a:r>
                      <a:endParaRPr b="1" sz="15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91D3F0"/>
                    </a:solidFill>
                  </a:tcPr>
                </a:tc>
              </a:tr>
              <a:tr h="53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Pengembangan strategi marketing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</a:tr>
              <a:tr h="507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Pengembangan dan peluncuran aplikasi ‘Comfee’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</a:tr>
              <a:tr h="5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Integrasi tablet </a:t>
                      </a:r>
                      <a:r>
                        <a:rPr i="1"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self-service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</a:tr>
              <a:tr h="30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Kolaborasi dengan brand luar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</a:tr>
              <a:tr h="30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Penambahan jumlah barista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</a:tr>
              <a:tr h="30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Rekap dan evaluasi akhir tahun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F9CB9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8"/>
          <p:cNvSpPr/>
          <p:nvPr/>
        </p:nvSpPr>
        <p:spPr>
          <a:xfrm>
            <a:off x="150" y="-43682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8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CONCLUSION : Capital Allocation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28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5" name="Google Shape;725;p28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726" name="Google Shape;726;p28" title="Logo Putih COMPFES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7" name="Google Shape;727;p28" title="Logo CF1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8" name="Google Shape;728;p28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8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8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8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8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8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8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8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28"/>
          <p:cNvSpPr txBox="1"/>
          <p:nvPr/>
        </p:nvSpPr>
        <p:spPr>
          <a:xfrm>
            <a:off x="17902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28"/>
          <p:cNvSpPr txBox="1"/>
          <p:nvPr/>
        </p:nvSpPr>
        <p:spPr>
          <a:xfrm>
            <a:off x="358515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28"/>
          <p:cNvSpPr txBox="1"/>
          <p:nvPr/>
        </p:nvSpPr>
        <p:spPr>
          <a:xfrm>
            <a:off x="5379550" y="481605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28"/>
          <p:cNvSpPr txBox="1"/>
          <p:nvPr/>
        </p:nvSpPr>
        <p:spPr>
          <a:xfrm>
            <a:off x="7163875" y="481605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40" name="Google Shape;740;p28"/>
          <p:cNvGraphicFramePr/>
          <p:nvPr/>
        </p:nvGraphicFramePr>
        <p:xfrm>
          <a:off x="1397000" y="80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{E128A648-2720-41D5-81E8-A631E90C5FAF}</a:tableStyleId>
              </a:tblPr>
              <a:tblGrid>
                <a:gridCol w="3175000"/>
                <a:gridCol w="3175000"/>
              </a:tblGrid>
              <a:tr h="198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Jenis pengeluaran</a:t>
                      </a:r>
                      <a:endParaRPr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Jumlah pengeluaran</a:t>
                      </a:r>
                      <a:endParaRPr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rgbClr val="9E9E9E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Pembuatan aplikasi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Rp10.000.000,00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6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Tablet self-service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Rp1.000.000,00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Kolaborasi brand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Rp2.000.000,00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Barista paruh waktu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Rp1.500.000,00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Rp14.500.000,00</a:t>
                      </a:r>
                      <a:endParaRPr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63500" marB="63500" marR="63500" marL="63500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741" name="Google Shape;741;p28"/>
          <p:cNvSpPr txBox="1"/>
          <p:nvPr/>
        </p:nvSpPr>
        <p:spPr>
          <a:xfrm>
            <a:off x="240600" y="3252175"/>
            <a:ext cx="8662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Dengan modal total Rp15 juta, kami telah mengalokasikan Rp14.5 juta untuk kebutuhan pengembangan kafe, menyisakan Rp500 ribu untuk tabungan </a:t>
            </a:r>
            <a:r>
              <a:rPr b="1" i="1" lang="en" sz="17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emergency cost.</a:t>
            </a:r>
            <a:endParaRPr b="1" i="1" sz="17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9"/>
          <p:cNvSpPr/>
          <p:nvPr/>
        </p:nvSpPr>
        <p:spPr>
          <a:xfrm>
            <a:off x="150" y="-43682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9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29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9" name="Google Shape;749;p29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750" name="Google Shape;750;p29" title="Logo Putih COMPFES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1" name="Google Shape;751;p29" title="Logo CF1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2" name="Google Shape;752;p29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9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9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9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9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9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9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9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0" name="Google Shape;760;p29"/>
          <p:cNvSpPr txBox="1"/>
          <p:nvPr/>
        </p:nvSpPr>
        <p:spPr>
          <a:xfrm>
            <a:off x="17902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1" name="Google Shape;761;p29"/>
          <p:cNvSpPr txBox="1"/>
          <p:nvPr/>
        </p:nvSpPr>
        <p:spPr>
          <a:xfrm>
            <a:off x="358515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2" name="Google Shape;762;p29"/>
          <p:cNvSpPr txBox="1"/>
          <p:nvPr/>
        </p:nvSpPr>
        <p:spPr>
          <a:xfrm>
            <a:off x="5379550" y="481605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29"/>
          <p:cNvSpPr txBox="1"/>
          <p:nvPr/>
        </p:nvSpPr>
        <p:spPr>
          <a:xfrm>
            <a:off x="7163875" y="481605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4" name="Google Shape;764;p29"/>
          <p:cNvSpPr/>
          <p:nvPr/>
        </p:nvSpPr>
        <p:spPr>
          <a:xfrm>
            <a:off x="843150" y="922525"/>
            <a:ext cx="7457700" cy="3030600"/>
          </a:xfrm>
          <a:prstGeom prst="horizontalScroll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9"/>
          <p:cNvSpPr txBox="1"/>
          <p:nvPr/>
        </p:nvSpPr>
        <p:spPr>
          <a:xfrm>
            <a:off x="1198350" y="1514275"/>
            <a:ext cx="6813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Dengan mengimplementasikan konsep BA (Business Analytics) dalam bisnis KopiCompfest dan mengembangkan sebuah aplikasi sebagai solusi, kami berekspektasi</a:t>
            </a:r>
            <a:r>
              <a:rPr b="1" lang="en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b="1" lang="en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enghasilkan pendapatan yang stabil untuk satu tahun ke depan, dan akan meningkat di dua tahun kedepannya.</a:t>
            </a:r>
            <a:endParaRPr b="1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0"/>
          <p:cNvSpPr/>
          <p:nvPr/>
        </p:nvSpPr>
        <p:spPr>
          <a:xfrm>
            <a:off x="150" y="-43682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0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References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30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3" name="Google Shape;773;p30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774" name="Google Shape;774;p30" title="Logo Putih COMPFES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5" name="Google Shape;775;p30" title="Logo CF1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6" name="Google Shape;776;p30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0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0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0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0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0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0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0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30"/>
          <p:cNvSpPr txBox="1"/>
          <p:nvPr/>
        </p:nvSpPr>
        <p:spPr>
          <a:xfrm>
            <a:off x="17902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30"/>
          <p:cNvSpPr txBox="1"/>
          <p:nvPr/>
        </p:nvSpPr>
        <p:spPr>
          <a:xfrm>
            <a:off x="358515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30"/>
          <p:cNvSpPr txBox="1"/>
          <p:nvPr/>
        </p:nvSpPr>
        <p:spPr>
          <a:xfrm>
            <a:off x="5379550" y="481605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30"/>
          <p:cNvSpPr txBox="1"/>
          <p:nvPr/>
        </p:nvSpPr>
        <p:spPr>
          <a:xfrm>
            <a:off x="7174950" y="481605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30"/>
          <p:cNvSpPr txBox="1"/>
          <p:nvPr/>
        </p:nvSpPr>
        <p:spPr>
          <a:xfrm>
            <a:off x="1198350" y="1514275"/>
            <a:ext cx="681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30"/>
          <p:cNvSpPr txBox="1"/>
          <p:nvPr/>
        </p:nvSpPr>
        <p:spPr>
          <a:xfrm>
            <a:off x="240600" y="633475"/>
            <a:ext cx="8662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References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Point of Sales: Pengertian, Manfaat, Cara Kerja dan Aplikasi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(2025, July 20). Mekari. Retrieved August 26, 2025, from </a:t>
            </a:r>
            <a:r>
              <a:rPr lang="en" u="sng">
                <a:solidFill>
                  <a:srgbClr val="1155CC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https://mekari.com/blog/point-of-sales-pos/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Schooley, S., &amp; Guide, S. (2024, October 3). </a:t>
            </a:r>
            <a:r>
              <a:rPr i="1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a SWOT Analysis? How To Use It for Business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Business News Daily. Retrieved August 26, 2025, from </a:t>
            </a:r>
            <a:r>
              <a:rPr lang="en" u="sng">
                <a:solidFill>
                  <a:srgbClr val="1155CC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https://www.businessnewsdaily.com/4245-swot-analysis.html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Business Analytics?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(n.d.). IBM. Retrieved August 26, 2025, from </a:t>
            </a:r>
            <a:r>
              <a:rPr lang="en" u="sng">
                <a:solidFill>
                  <a:srgbClr val="1155CC"/>
                </a:solidFill>
                <a:latin typeface="Lexend"/>
                <a:ea typeface="Lexend"/>
                <a:cs typeface="Lexend"/>
                <a:sym typeface="Lexend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https://www.ibm.com/think/topics/business-analytics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i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4" name="Google Shape;794;p31" title="1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" y="237484"/>
            <a:ext cx="2646681" cy="4700521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31"/>
          <p:cNvSpPr/>
          <p:nvPr/>
        </p:nvSpPr>
        <p:spPr>
          <a:xfrm>
            <a:off x="150" y="-43682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1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Appendix : User Interface Aplikasi Comfee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31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8" name="Google Shape;798;p31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799" name="Google Shape;799;p31" title="Logo Putih COMPFEST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0" name="Google Shape;800;p31" title="Logo CF17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1" name="Google Shape;801;p31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1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1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1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1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1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1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1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31"/>
          <p:cNvSpPr txBox="1"/>
          <p:nvPr/>
        </p:nvSpPr>
        <p:spPr>
          <a:xfrm>
            <a:off x="17902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31"/>
          <p:cNvSpPr txBox="1"/>
          <p:nvPr/>
        </p:nvSpPr>
        <p:spPr>
          <a:xfrm>
            <a:off x="358515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31"/>
          <p:cNvSpPr txBox="1"/>
          <p:nvPr/>
        </p:nvSpPr>
        <p:spPr>
          <a:xfrm>
            <a:off x="5379550" y="481605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31"/>
          <p:cNvSpPr txBox="1"/>
          <p:nvPr/>
        </p:nvSpPr>
        <p:spPr>
          <a:xfrm>
            <a:off x="7544550" y="4816050"/>
            <a:ext cx="1300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3" name="Google Shape;813;p31" title="KOEST_CUSTOMER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32884" y="278425"/>
            <a:ext cx="2611258" cy="4637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31" title="3__1_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72525" y="278425"/>
            <a:ext cx="2600558" cy="4618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31" title="2__1_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53654" y="278425"/>
            <a:ext cx="2600558" cy="4618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7C8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2"/>
          <p:cNvSpPr/>
          <p:nvPr/>
        </p:nvSpPr>
        <p:spPr>
          <a:xfrm>
            <a:off x="150" y="-43682"/>
            <a:ext cx="9144000" cy="3648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2"/>
          <p:cNvSpPr txBox="1"/>
          <p:nvPr/>
        </p:nvSpPr>
        <p:spPr>
          <a:xfrm>
            <a:off x="240750" y="-70875"/>
            <a:ext cx="866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Appendix </a:t>
            </a:r>
            <a:r>
              <a:rPr b="1" lang="en" sz="1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: User Interface Aplikasi KoFest Owner</a:t>
            </a:r>
            <a:endParaRPr b="1" sz="1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32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3" name="Google Shape;823;p32"/>
          <p:cNvGrpSpPr/>
          <p:nvPr/>
        </p:nvGrpSpPr>
        <p:grpSpPr>
          <a:xfrm>
            <a:off x="8775125" y="-37526"/>
            <a:ext cx="368875" cy="372242"/>
            <a:chOff x="8775125" y="-37526"/>
            <a:chExt cx="368875" cy="372242"/>
          </a:xfrm>
        </p:grpSpPr>
        <p:pic>
          <p:nvPicPr>
            <p:cNvPr id="824" name="Google Shape;824;p32" title="Logo Putih COMPFES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79200" y="-30083"/>
              <a:ext cx="364800" cy="36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5" name="Google Shape;825;p32" title="Logo CF1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75125" y="-37526"/>
              <a:ext cx="337250" cy="320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6" name="Google Shape;826;p32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2"/>
          <p:cNvSpPr/>
          <p:nvPr/>
        </p:nvSpPr>
        <p:spPr>
          <a:xfrm>
            <a:off x="0" y="4842600"/>
            <a:ext cx="9144000" cy="30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2"/>
          <p:cNvSpPr/>
          <p:nvPr/>
        </p:nvSpPr>
        <p:spPr>
          <a:xfrm>
            <a:off x="10960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2"/>
          <p:cNvSpPr/>
          <p:nvPr/>
        </p:nvSpPr>
        <p:spPr>
          <a:xfrm>
            <a:off x="73201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2"/>
          <p:cNvSpPr/>
          <p:nvPr/>
        </p:nvSpPr>
        <p:spPr>
          <a:xfrm>
            <a:off x="5524750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2"/>
          <p:cNvSpPr/>
          <p:nvPr/>
        </p:nvSpPr>
        <p:spPr>
          <a:xfrm>
            <a:off x="3730338" y="4883700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2"/>
          <p:cNvSpPr/>
          <p:nvPr/>
        </p:nvSpPr>
        <p:spPr>
          <a:xfrm>
            <a:off x="1935438" y="4883688"/>
            <a:ext cx="1749300" cy="2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2"/>
          <p:cNvSpPr txBox="1"/>
          <p:nvPr/>
        </p:nvSpPr>
        <p:spPr>
          <a:xfrm>
            <a:off x="6425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Executive summary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32"/>
          <p:cNvSpPr txBox="1"/>
          <p:nvPr/>
        </p:nvSpPr>
        <p:spPr>
          <a:xfrm>
            <a:off x="1790250" y="480180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Situation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32"/>
          <p:cNvSpPr txBox="1"/>
          <p:nvPr/>
        </p:nvSpPr>
        <p:spPr>
          <a:xfrm>
            <a:off x="3585150" y="4801825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 Analysis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32"/>
          <p:cNvSpPr txBox="1"/>
          <p:nvPr/>
        </p:nvSpPr>
        <p:spPr>
          <a:xfrm>
            <a:off x="5379550" y="4816050"/>
            <a:ext cx="20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Strategy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32"/>
          <p:cNvSpPr txBox="1"/>
          <p:nvPr/>
        </p:nvSpPr>
        <p:spPr>
          <a:xfrm>
            <a:off x="7544550" y="4816050"/>
            <a:ext cx="1300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8" name="Google Shape;838;p32" title="3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1253" y="258525"/>
            <a:ext cx="2605474" cy="462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32" title="4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80963" y="278837"/>
            <a:ext cx="2596495" cy="4611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32" title="2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51744" y="259620"/>
            <a:ext cx="2596495" cy="4611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32" title="1-removebg-preview (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276" y="271310"/>
            <a:ext cx="2605475" cy="4627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